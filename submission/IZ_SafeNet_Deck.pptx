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074527a88c4c45" /><Relationship Type="http://schemas.openxmlformats.org/officeDocument/2006/relationships/extended-properties" Target="/docProps/app.xml" Id="R1431bcd97f5840d0" /><Relationship Type="http://schemas.openxmlformats.org/officeDocument/2006/relationships/officeDocument" Target="/ppt/presentation.xml" Id="R53fde851860045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aa0610c1cc41d2"/>
  </p:sldMasterIdLst>
  <p:notesMasterIdLst>
    <p:notesMasterId xmlns:r="http://schemas.openxmlformats.org/officeDocument/2006/relationships" r:id="Rbf26ded213414c24"/>
  </p:notesMasterIdLst>
  <p:sldIdLst>
    <p:sldId xmlns:r="http://schemas.openxmlformats.org/officeDocument/2006/relationships" id="256" r:id="R27390ca93c144d14"/>
    <p:sldId xmlns:r="http://schemas.openxmlformats.org/officeDocument/2006/relationships" id="257" r:id="Rda45049f27814b2e"/>
    <p:sldId xmlns:r="http://schemas.openxmlformats.org/officeDocument/2006/relationships" id="258" r:id="R1f5ffbc85a8e4b27"/>
    <p:sldId xmlns:r="http://schemas.openxmlformats.org/officeDocument/2006/relationships" id="259" r:id="R2769118994cb45bd"/>
    <p:sldId xmlns:r="http://schemas.openxmlformats.org/officeDocument/2006/relationships" id="260" r:id="R90df0772a9bb4b4b"/>
    <p:sldId xmlns:r="http://schemas.openxmlformats.org/officeDocument/2006/relationships" id="261" r:id="R623ca68721b24750"/>
    <p:sldId xmlns:r="http://schemas.openxmlformats.org/officeDocument/2006/relationships" id="262" r:id="R212a243709074132"/>
    <p:sldId xmlns:r="http://schemas.openxmlformats.org/officeDocument/2006/relationships" id="263" r:id="Rac37ffd0802247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edc4b98d344d62" /><Relationship Type="http://schemas.openxmlformats.org/officeDocument/2006/relationships/slideMaster" Target="/ppt/slideMasters/slideMaster1.xml" Id="R12aa0610c1cc41d2" /><Relationship Type="http://schemas.openxmlformats.org/officeDocument/2006/relationships/notesMaster" Target="/ppt/notesMasters/notesMaster1.xml" Id="Rbf26ded213414c24" /><Relationship Type="http://schemas.openxmlformats.org/officeDocument/2006/relationships/presProps" Target="/ppt/presProps.xml" Id="R2dfc8662e7514b9a" /><Relationship Type="http://schemas.openxmlformats.org/officeDocument/2006/relationships/tableStyles" Target="/ppt/tableStyles.xml" Id="R745bf355b9ee42d9" /><Relationship Type="http://schemas.openxmlformats.org/officeDocument/2006/relationships/slide" Target="/ppt/slides/slide1.xml" Id="R27390ca93c144d14" /><Relationship Type="http://schemas.openxmlformats.org/officeDocument/2006/relationships/slide" Target="/ppt/slides/slide2.xml" Id="Rda45049f27814b2e" /><Relationship Type="http://schemas.openxmlformats.org/officeDocument/2006/relationships/slide" Target="/ppt/slides/slide3.xml" Id="R1f5ffbc85a8e4b27" /><Relationship Type="http://schemas.openxmlformats.org/officeDocument/2006/relationships/slide" Target="/ppt/slides/slide4.xml" Id="R2769118994cb45bd" /><Relationship Type="http://schemas.openxmlformats.org/officeDocument/2006/relationships/slide" Target="/ppt/slides/slide5.xml" Id="R90df0772a9bb4b4b" /><Relationship Type="http://schemas.openxmlformats.org/officeDocument/2006/relationships/slide" Target="/ppt/slides/slide6.xml" Id="R623ca68721b24750" /><Relationship Type="http://schemas.openxmlformats.org/officeDocument/2006/relationships/slide" Target="/ppt/slides/slide7.xml" Id="R212a243709074132" /><Relationship Type="http://schemas.openxmlformats.org/officeDocument/2006/relationships/slide" Target="/ppt/slides/slide8.xml" Id="Rac37ffd0802247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0f9a11f86440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bcc8ef18a94013" /><Relationship Type="http://schemas.openxmlformats.org/officeDocument/2006/relationships/notesMaster" Target="/ppt/notesMasters/notesMaster1.xml" Id="R45dd4e53c66745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f728206cec4e96" /><Relationship Type="http://schemas.openxmlformats.org/officeDocument/2006/relationships/notesMaster" Target="/ppt/notesMasters/notesMaster1.xml" Id="R017504e46b1d43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fc033bb3be4e32" /><Relationship Type="http://schemas.openxmlformats.org/officeDocument/2006/relationships/notesMaster" Target="/ppt/notesMasters/notesMaster1.xml" Id="R7893ab20ec9745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358f2b461c42f2" /><Relationship Type="http://schemas.openxmlformats.org/officeDocument/2006/relationships/notesMaster" Target="/ppt/notesMasters/notesMaster1.xml" Id="R3db0209ace5744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91c3eea38147fa" /><Relationship Type="http://schemas.openxmlformats.org/officeDocument/2006/relationships/notesMaster" Target="/ppt/notesMasters/notesMaster1.xml" Id="R11f82f0971324b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033ced501c4e19" /><Relationship Type="http://schemas.openxmlformats.org/officeDocument/2006/relationships/notesMaster" Target="/ppt/notesMasters/notesMaster1.xml" Id="R10930fe3bb5b4e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79a7466bfd48d3" /><Relationship Type="http://schemas.openxmlformats.org/officeDocument/2006/relationships/notesMaster" Target="/ppt/notesMasters/notesMaster1.xml" Id="R4323c9c208e847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85fbd2f0f04e46" /><Relationship Type="http://schemas.openxmlformats.org/officeDocument/2006/relationships/notesMaster" Target="/ppt/notesMasters/notesMaster1.xml" Id="Rad8ea935e8d743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Условия розыгрыша могут появляться в разных материалах. ІЗ собирает их в одно дело и показывает цитаты для проверки платного участия. Открываем демонстрационный MVP команды TEMIR. Продукт назначает приоритет проверки и не устанавливает нарушение закона.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</a:t>
            </a:r>
          </a:p>
          <a:p xmlns:a="http://schemas.openxmlformats.org/drawingml/2006/main">
            <a:r>
              <a:t>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Показываем три текстовых признака: заявленный приз, обязательную оплату именно для допуска и случайный выбор итогового победителя. Одна цена или слово «подарок» не подтверждают всю механику. Пример на слайде синтетический. Условия доставки после выигрыша, стоимость приза и бесплатные альтернативы требуют отдельной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METHODOLOGY.md</a:t>
            </a:r>
          </a:p>
          <a:p xmlns:a="http://schemas.openxmlformats.org/drawingml/2006/main">
            <a:r>
              <a:t>dist/engine.mjs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живом показе добавляем готовый текст, затем показываем загрузку скриншота. OCR работает локально в браузере. Аналитик видит оригинал и исправляет распознанный текст. Для эфира нужна предоставленная расшифровка. Захвата эфира, ASR и автоматического сбора публикаций в MVP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</a:t>
            </a:r>
          </a:p>
          <a:p xmlns:a="http://schemas.openxmlformats.org/drawingml/2006/main">
            <a:r>
              <a:t>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Показываем в приложении ручное подтверждение признака с точной исходной цитатой. Заметка сама по себе не закрывает дело. Решение связано с версией материала, а редактирование материала делает старое подтверждение неактуальным. На слайде синтетическая цитата, а не изображение реального кейса.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METHODOLOGY.md</a:t>
            </a:r>
          </a:p>
          <a:p xmlns:a="http://schemas.openxmlformats.org/drawingml/2006/main">
            <a:r>
              <a:t>dist/engine.mjs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синтетическая. Два материала явно отнесены к одной кампании через campaignRef. Введённый campaignRef не подтверждён внешней платформой. Сеть показывает наблюдаемые совпадения и их происхождение. Один аккаунт, упоминание или похожая сумма сами по себе не подтверждают одну кампанию и тем более не доказывают общую преступную сеть.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METHODOLOGY.md</a:t>
            </a:r>
          </a:p>
          <a:p xmlns:a="http://schemas.openxmlformats.org/drawingml/2006/main">
            <a:r>
              <a:t>evaluation/campaign-integrity-checks.json</a:t>
            </a:r>
          </a:p>
          <a:p xmlns:a="http://schemas.openxmlformats.org/drawingml/2006/main">
            <a:r>
              <a:t>evaluation/grouping-integrity-checks.json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Движок зафиксирован до создания набора. Отдельный AI-автор не видел код, прежние случаи или прогнозы. Первый результат сохранён. После раскрытия набор открыт.</a:t>
            </a:r>
          </a:p>
          <a:p xmlns:a="http://schemas.openxmlformats.org/drawingml/2006/main">
            <a:r>
              <a:t>Версия: 2.0.0-track1-evidence. Совпадение трёх уровней 100/160. Положительный класс для precision, recall и FPR: high против medium и low. TP=34, FP=12, FN=30, TN=84. Precision 73,9%, recall 53,1%, FPR 12,5%.</a:t>
            </a:r>
          </a:p>
          <a:p xmlns:a="http://schemas.openxmlformats.org/drawingml/2006/main">
            <a:r>
              <a:t>Реальных публикаций, человеческой разметки и замера пользы нет. OCR не входит в этот тест.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evaluation/fresh-ai-v8-report.json</a:t>
            </a:r>
          </a:p>
          <a:p xmlns:a="http://schemas.openxmlformats.org/drawingml/2006/main">
            <a:r>
              <a:t>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Сегодня это статический браузерный MVP. Тексты, OCR и решения обрабатываются локально, данные сохраняются в этом браузере. Серверная очередь, роли и совместная работа входят в предложенный следующий этап. План пилота на четыре недели предполагает разрешённые материалы, отдельную разметку, проверку по языкам и сравнение работы аналитиков. Пилот и измерение экономии времени ещё не проводились.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</a:t>
            </a:r>
          </a:p>
          <a:p xmlns:a="http://schemas.openxmlformats.org/drawingml/2006/main">
            <a:r>
              <a:t>ROADMAP.md</a:t>
            </a:r>
          </a:p>
          <a:p xmlns:a="http://schemas.openxmlformats.org/drawingml/2006/main">
            <a:r>
              <a:t>PILOT_PROTOCOL.md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Переходим по действующей ссылке в MVP. Показываем платный и бесплатный примеры, источник точной цитаты и ручной разбор. Обсуждаем следующий этап с экспертами и разрешёнными материалами. ІЗ помогает выделять признаки и назначать приоритет проверки. Юридическую оценку выполняет специалист.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</a:t>
            </a:r>
          </a:p>
          <a:p xmlns:a="http://schemas.openxmlformats.org/drawingml/2006/main">
            <a:r>
              <a:t>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0e667728b4d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58b7205214b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17d56147a40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889f9ff8746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9b3497bee94f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f8732088b44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08C640-5EBA-4BED-96C4-B8F21C726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BBBDE81-F0B3-4F3B-8E3E-B729D7A349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87953F-C46C-4C26-B6FB-9EA344779A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D365E1-C267-49B6-AA0B-B038A0C817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30CBA6-C77D-42E7-8EBF-12C05F7FB8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436F0F-BBF0-45AB-9B78-C1614E1234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6AB7E6-160F-48A4-8EE2-DF78B0E8DA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8613E7-3C38-4057-912D-1C1F00B321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911EE3-BEAD-4792-A64E-0A362E700E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E42BE2-50EB-42A4-AC98-C0B2E4168D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38e84df8b84049" /><Relationship Type="http://schemas.openxmlformats.org/officeDocument/2006/relationships/slideLayout" Target="/ppt/slideLayouts/slideLayout1.xml" Id="R27d73e7750f94c51" /><Relationship Type="http://schemas.openxmlformats.org/officeDocument/2006/relationships/slideLayout" Target="/ppt/slideLayouts/slideLayout2.xml" Id="R69012409faaf4ae1" /><Relationship Type="http://schemas.openxmlformats.org/officeDocument/2006/relationships/slideLayout" Target="/ppt/slideLayouts/slideLayout3.xml" Id="R123e1a29f333427a" /><Relationship Type="http://schemas.openxmlformats.org/officeDocument/2006/relationships/slideLayout" Target="/ppt/slideLayouts/slideLayout4.xml" Id="R35101e0507d74eed" /><Relationship Type="http://schemas.openxmlformats.org/officeDocument/2006/relationships/slideLayout" Target="/ppt/slideLayouts/slideLayout5.xml" Id="R2ec063a243284e11" /><Relationship Type="http://schemas.openxmlformats.org/officeDocument/2006/relationships/slideLayout" Target="/ppt/slideLayouts/slideLayout6.xml" Id="R8243132101a243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d73e7750f94c51"/>
    <p:sldLayoutId xmlns:r="http://schemas.openxmlformats.org/officeDocument/2006/relationships" id="2147483650" r:id="R69012409faaf4ae1"/>
    <p:sldLayoutId xmlns:r="http://schemas.openxmlformats.org/officeDocument/2006/relationships" id="2147483651" r:id="R123e1a29f333427a"/>
    <p:sldLayoutId xmlns:r="http://schemas.openxmlformats.org/officeDocument/2006/relationships" id="2147483652" r:id="R35101e0507d74eed"/>
    <p:sldLayoutId xmlns:r="http://schemas.openxmlformats.org/officeDocument/2006/relationships" id="2147483653" r:id="R2ec063a243284e11"/>
    <p:sldLayoutId xmlns:r="http://schemas.openxmlformats.org/officeDocument/2006/relationships" id="2147483654" r:id="R8243132101a243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ca6a9ab0a94805" /><Relationship Type="http://schemas.openxmlformats.org/officeDocument/2006/relationships/image" Target="/ppt/media/image.png" Id="Rf2fdcc5f7c2a4c72" /><Relationship Type="http://schemas.openxmlformats.org/officeDocument/2006/relationships/image" Target="/ppt/media/image2.png" Id="Rc47b84a444454b24" /><Relationship Type="http://schemas.openxmlformats.org/officeDocument/2006/relationships/notesSlide" Target="/ppt/notesSlides/notesSlide1.xml" Id="Rd5f42387811b4d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f42884f05f4899" /><Relationship Type="http://schemas.openxmlformats.org/officeDocument/2006/relationships/image" Target="/ppt/media/image3.png" Id="R4e71ed10b7494863" /><Relationship Type="http://schemas.openxmlformats.org/officeDocument/2006/relationships/notesSlide" Target="/ppt/notesSlides/notesSlide2.xml" Id="R6948cfd2e45043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75869062ad4c8c" /><Relationship Type="http://schemas.openxmlformats.org/officeDocument/2006/relationships/notesSlide" Target="/ppt/notesSlides/notesSlide3.xml" Id="R5cd776be112545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c8e7ce116f4f7c" /><Relationship Type="http://schemas.openxmlformats.org/officeDocument/2006/relationships/notesSlide" Target="/ppt/notesSlides/notesSlide4.xml" Id="R0ea4aa574c2c4e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d437b8699447f2" /><Relationship Type="http://schemas.openxmlformats.org/officeDocument/2006/relationships/notesSlide" Target="/ppt/notesSlides/notesSlide5.xml" Id="R3fdf70f799f345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b65ff2f3d4406a" /><Relationship Type="http://schemas.openxmlformats.org/officeDocument/2006/relationships/notesSlide" Target="/ppt/notesSlides/notesSlide6.xml" Id="R38567f4ef6ec47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8d486ec954935" /><Relationship Type="http://schemas.openxmlformats.org/officeDocument/2006/relationships/notesSlide" Target="/ppt/notesSlides/notesSlide7.xml" Id="R0bc9d03345ca4e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21cd1b3a84c6e" /><Relationship Type="http://schemas.openxmlformats.org/officeDocument/2006/relationships/hyperlink" Target="https://iz-safenet-kz.garden-gleam-9738.chatgpt.site/" TargetMode="External" Id="Re684676becac4e79" /><Relationship Type="http://schemas.openxmlformats.org/officeDocument/2006/relationships/image" Target="/ppt/media/image4.png" Id="R82b4008267fe497e" /><Relationship Type="http://schemas.openxmlformats.org/officeDocument/2006/relationships/notesSlide" Target="/ppt/notesSlides/notesSlide8.xml" Id="Rddeec6e835804f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FD33CC06-820B-44AA-AB5F-A41218CA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defPPr>
            <a:lvl1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86157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41300-D0AC-4B74-AFC7-C5A0301824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dcc5f7c2a4c72"/>
          <a:srcRect xmlns:a="http://schemas.openxmlformats.org/drawingml/2006/main" l="8348" t="0" r="83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7434C-ED0F-4D53-B6A3-6BCEE41DB5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b84a444454b24"/>
          <a:stretch xmlns:a="http://schemas.openxmlformats.org/drawingml/2006/main"/>
        </p:blipFill>
        <p:spPr>
          <a:xfrm xmlns:a="http://schemas.openxmlformats.org/drawingml/2006/main">
            <a:off x="685800" y="458788"/>
            <a:ext cx="1476375" cy="492125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6E0F8D7-D790-41A3-87CF-7DC5F5FC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defPPr>
            <a:lvl1pPr algn="l">
              <a:defRPr sz="1500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500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500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500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500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500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500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500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500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686157"/>
                </a:solidFill>
                <a:latin typeface="Manrope"/>
                <a:ea typeface="Manrope"/>
                <a:cs typeface="Manrope"/>
              </a:rPr>
              <a:t>SafeNet KZ   Трек 1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F282BE8-F6CA-4EC1-A111-56087A44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3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103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03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03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03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03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03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03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03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03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103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03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ІЗ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9BD0B90-D4FB-413B-8D6C-4E040495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6286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4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4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4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4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4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4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4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4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4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40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Проверка условий</a:t>
            </a:r>
          </a:p>
          <a:p xmlns:a="http://schemas.openxmlformats.org/drawingml/2006/main">
            <a:pPr algn="l">
              <a:defRPr sz="4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40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розыгрыша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2A7E87B-4361-4C08-9F47-E089A53B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Условия участия разбросаны</a:t>
            </a:r>
          </a:p>
          <a:p xmlns:a="http://schemas.openxmlformats.org/drawingml/2006/main">
            <a:pPr algn="l">
              <a:defRPr sz="20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по постам и скриншотам.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E204023-3ADC-4805-88F5-4B2BCC9C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341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Демонстрационный MVP   v2.0</a:t>
            </a:r>
          </a:p>
        </p:txBody>
      </p:sp>
    </p:spTree>
    <p:extLst>
      <p:ext uri="{BB962C8B-B14F-4D97-AF65-F5344CB8AC3E}">
        <p14:creationId xmlns:p14="http://schemas.microsoft.com/office/powerpoint/2010/main" val="1673946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7">
            <a:extLst xmlns:a="http://schemas.openxmlformats.org/drawingml/2006/main">
              <a:ext uri="{FF2B5EF4-FFF2-40B4-BE49-F238E27FC236}">
                <a16:creationId xmlns:a16="http://schemas.microsoft.com/office/drawing/2014/main" id="{D6F445C1-B826-4195-B0C7-9607F21E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Три условия для проверки</a:t>
            </a:r>
          </a:p>
        </p:txBody>
      </p:sp>
      <p:sp>
        <p:nvSpPr>
          <p:cNvPr id="2" name="text-8">
            <a:extLst xmlns:a="http://schemas.openxmlformats.org/drawingml/2006/main">
              <a:ext uri="{FF2B5EF4-FFF2-40B4-BE49-F238E27FC236}">
                <a16:creationId xmlns:a16="http://schemas.microsoft.com/office/drawing/2014/main" id="{AC1421F5-C854-47FF-96B8-8766E37A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defPPr>
            <a:lvl1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86157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3" name="text-9">
            <a:extLst xmlns:a="http://schemas.openxmlformats.org/drawingml/2006/main">
              <a:ext uri="{FF2B5EF4-FFF2-40B4-BE49-F238E27FC236}">
                <a16:creationId xmlns:a16="http://schemas.microsoft.com/office/drawing/2014/main" id="{6F7CFF72-2603-4869-94D5-CE5AD7A1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defPPr>
            <a:lvl1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1pPr>
            <a:lvl2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2pPr>
            <a:lvl3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3pPr>
            <a:lvl4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4pPr>
            <a:lvl5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5pPr>
            <a:lvl6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6pPr>
            <a:lvl7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7pPr>
            <a:lvl8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8pPr>
            <a:lvl9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ED176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4" name="text-10">
            <a:extLst xmlns:a="http://schemas.openxmlformats.org/drawingml/2006/main">
              <a:ext uri="{FF2B5EF4-FFF2-40B4-BE49-F238E27FC236}">
                <a16:creationId xmlns:a16="http://schemas.microsoft.com/office/drawing/2014/main" id="{C7BD0D50-9FCA-42FA-9FA5-B3FA0FFE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38350"/>
            <a:ext cx="595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Приз</a:t>
            </a:r>
          </a:p>
        </p:txBody>
      </p:sp>
      <p:sp>
        <p:nvSpPr>
          <p:cNvPr id="5" name="text-11">
            <a:extLst xmlns:a="http://schemas.openxmlformats.org/drawingml/2006/main">
              <a:ext uri="{FF2B5EF4-FFF2-40B4-BE49-F238E27FC236}">
                <a16:creationId xmlns:a16="http://schemas.microsoft.com/office/drawing/2014/main" id="{004D76A4-87E8-4344-8FA7-C78E31E1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«Разыгрываем смартфон»</a:t>
            </a:r>
          </a:p>
        </p:txBody>
      </p:sp>
      <p:sp>
        <p:nvSpPr>
          <p:cNvPr id="6" name="rule-12">
            <a:extLst xmlns:a="http://schemas.openxmlformats.org/drawingml/2006/main">
              <a:ext uri="{FF2B5EF4-FFF2-40B4-BE49-F238E27FC236}">
                <a16:creationId xmlns:a16="http://schemas.microsoft.com/office/drawing/2014/main" id="{35980D28-C00A-4A3F-917A-A3FCA13D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19425"/>
            <a:ext cx="556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7" name="text-13">
            <a:extLst xmlns:a="http://schemas.openxmlformats.org/drawingml/2006/main">
              <a:ext uri="{FF2B5EF4-FFF2-40B4-BE49-F238E27FC236}">
                <a16:creationId xmlns:a16="http://schemas.microsoft.com/office/drawing/2014/main" id="{74DADBB4-14A2-45B4-A110-E511021A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defPPr>
            <a:lvl1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1pPr>
            <a:lvl2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2pPr>
            <a:lvl3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3pPr>
            <a:lvl4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4pPr>
            <a:lvl5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5pPr>
            <a:lvl6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6pPr>
            <a:lvl7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7pPr>
            <a:lvl8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8pPr>
            <a:lvl9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ED176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8" name="text-14">
            <a:extLst xmlns:a="http://schemas.openxmlformats.org/drawingml/2006/main">
              <a:ext uri="{FF2B5EF4-FFF2-40B4-BE49-F238E27FC236}">
                <a16:creationId xmlns:a16="http://schemas.microsoft.com/office/drawing/2014/main" id="{8BA3E0DF-D288-4B33-AEA5-F8670109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57550"/>
            <a:ext cx="595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Обязательная оплата входа</a:t>
            </a:r>
          </a:p>
        </p:txBody>
      </p:sp>
      <p:sp>
        <p:nvSpPr>
          <p:cNvPr id="9" name="text-15">
            <a:extLst xmlns:a="http://schemas.openxmlformats.org/drawingml/2006/main">
              <a:ext uri="{FF2B5EF4-FFF2-40B4-BE49-F238E27FC236}">
                <a16:creationId xmlns:a16="http://schemas.microsoft.com/office/drawing/2014/main" id="{D7CF0DD7-74BA-4451-A4FC-6DF74BFB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05225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«Для участия купите билет»</a:t>
            </a:r>
          </a:p>
        </p:txBody>
      </p:sp>
      <p:sp>
        <p:nvSpPr>
          <p:cNvPr id="10" name="rule-16">
            <a:extLst xmlns:a="http://schemas.openxmlformats.org/drawingml/2006/main">
              <a:ext uri="{FF2B5EF4-FFF2-40B4-BE49-F238E27FC236}">
                <a16:creationId xmlns:a16="http://schemas.microsoft.com/office/drawing/2014/main" id="{9B46BF6D-C5A2-469D-92BF-9D3FD2A8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556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11" name="text-17">
            <a:extLst xmlns:a="http://schemas.openxmlformats.org/drawingml/2006/main">
              <a:ext uri="{FF2B5EF4-FFF2-40B4-BE49-F238E27FC236}">
                <a16:creationId xmlns:a16="http://schemas.microsoft.com/office/drawing/2014/main" id="{969E5537-04E9-4BCE-A5E5-641A9A9E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defPPr>
            <a:lvl1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1pPr>
            <a:lvl2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2pPr>
            <a:lvl3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3pPr>
            <a:lvl4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4pPr>
            <a:lvl5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5pPr>
            <a:lvl6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6pPr>
            <a:lvl7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7pPr>
            <a:lvl8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8pPr>
            <a:lvl9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ED176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text-18">
            <a:extLst xmlns:a="http://schemas.openxmlformats.org/drawingml/2006/main">
              <a:ext uri="{FF2B5EF4-FFF2-40B4-BE49-F238E27FC236}">
                <a16:creationId xmlns:a16="http://schemas.microsoft.com/office/drawing/2014/main" id="{581000DC-7730-43D9-8952-F4136FE2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76750"/>
            <a:ext cx="595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Случайный выбор</a:t>
            </a:r>
          </a:p>
        </p:txBody>
      </p:sp>
      <p:sp>
        <p:nvSpPr>
          <p:cNvPr id="13" name="text-19">
            <a:extLst xmlns:a="http://schemas.openxmlformats.org/drawingml/2006/main">
              <a:ext uri="{FF2B5EF4-FFF2-40B4-BE49-F238E27FC236}">
                <a16:creationId xmlns:a16="http://schemas.microsoft.com/office/drawing/2014/main" id="{9A08AC6E-DF78-484C-B384-C96DAF98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24425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«Победителя определит жребий»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5C0E6-CAE3-444E-A634-E8046315B7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1ed10b7494863"/>
          <a:stretch xmlns:a="http://schemas.openxmlformats.org/drawingml/2006/main"/>
        </p:blipFill>
        <p:spPr>
          <a:xfrm xmlns:a="http://schemas.openxmlformats.org/drawingml/2006/main">
            <a:off x="7877175" y="2130425"/>
            <a:ext cx="3667125" cy="2444750"/>
          </a:xfrm>
          <a:prstGeom xmlns:a="http://schemas.openxmlformats.org/drawingml/2006/main" prst="rect">
            <a:avLst/>
          </a:prstGeom>
        </p:spPr>
      </p:pic>
      <p:sp>
        <p:nvSpPr>
          <p:cNvPr id="15" name="text-20">
            <a:extLst xmlns:a="http://schemas.openxmlformats.org/drawingml/2006/main">
              <a:ext uri="{FF2B5EF4-FFF2-40B4-BE49-F238E27FC236}">
                <a16:creationId xmlns:a16="http://schemas.microsoft.com/office/drawing/2014/main" id="{60A3D310-F6D2-4E17-B669-D793161D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76825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20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0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0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0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0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0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0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0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0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02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Точная цитата</a:t>
            </a:r>
          </a:p>
          <a:p xmlns:a="http://schemas.openxmlformats.org/drawingml/2006/main">
            <a:pPr algn="l">
              <a:defRPr sz="20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02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для каждого признака</a:t>
            </a:r>
          </a:p>
        </p:txBody>
      </p:sp>
      <p:sp>
        <p:nvSpPr>
          <p:cNvPr id="16" name="text-21">
            <a:extLst xmlns:a="http://schemas.openxmlformats.org/drawingml/2006/main">
              <a:ext uri="{FF2B5EF4-FFF2-40B4-BE49-F238E27FC236}">
                <a16:creationId xmlns:a16="http://schemas.microsoft.com/office/drawing/2014/main" id="{0ED5C451-7D1B-4232-81BE-D81DEE7D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Синтетический пример. Оплата доставки и цена приза имеют другую роль.</a:t>
            </a:r>
          </a:p>
        </p:txBody>
      </p:sp>
    </p:spTree>
    <p:extLst>
      <p:ext uri="{BB962C8B-B14F-4D97-AF65-F5344CB8AC3E}">
        <p14:creationId xmlns:p14="http://schemas.microsoft.com/office/powerpoint/2010/main" val="275544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CDB0D-920F-4271-96A7-FDA27F05D4A5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439150" y="37480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C7B9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26FC4-6F75-4F9B-AD13-20E361077EF1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638800" y="37480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C7B9"/>
            </a:solidFill>
            <a:prstDash val="soli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CDC3E-321C-4973-863E-3C3BED81093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38450" y="37480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C7B9"/>
            </a:solidFill>
            <a:prstDash val="solid"/>
            <a:tailEnd type="arrow" w="med" len="med"/>
          </a:ln>
        </p:spPr>
      </p:cxn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3972FC2A-824F-4991-9343-7FF8AB45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Материал и путь проверки</a:t>
            </a:r>
          </a:p>
        </p:txBody>
      </p:sp>
      <p:sp>
        <p:nvSpPr>
          <p:cNvPr id="2" name="text-23">
            <a:extLst xmlns:a="http://schemas.openxmlformats.org/drawingml/2006/main">
              <a:ext uri="{FF2B5EF4-FFF2-40B4-BE49-F238E27FC236}">
                <a16:creationId xmlns:a16="http://schemas.microsoft.com/office/drawing/2014/main" id="{61312981-8C79-4223-9A79-379325A9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defPPr>
            <a:lvl1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86157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3" name="text-24">
            <a:extLst xmlns:a="http://schemas.openxmlformats.org/drawingml/2006/main">
              <a:ext uri="{FF2B5EF4-FFF2-40B4-BE49-F238E27FC236}">
                <a16:creationId xmlns:a16="http://schemas.microsoft.com/office/drawing/2014/main" id="{377A42BD-F376-4A8D-86FC-BD55A0A4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defPPr>
            <a:lvl1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1pPr>
            <a:lvl2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2pPr>
            <a:lvl3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3pPr>
            <a:lvl4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4pPr>
            <a:lvl5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5pPr>
            <a:lvl6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6pPr>
            <a:lvl7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7pPr>
            <a:lvl8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8pPr>
            <a:lvl9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ED176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4" name="text-25">
            <a:extLst xmlns:a="http://schemas.openxmlformats.org/drawingml/2006/main">
              <a:ext uri="{FF2B5EF4-FFF2-40B4-BE49-F238E27FC236}">
                <a16:creationId xmlns:a16="http://schemas.microsoft.com/office/drawing/2014/main" id="{7989A611-BC24-4951-97B4-7FBF3F99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Добавить</a:t>
            </a:r>
          </a:p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материал</a:t>
            </a:r>
          </a:p>
        </p:txBody>
      </p:sp>
      <p:sp>
        <p:nvSpPr>
          <p:cNvPr id="5" name="text-26">
            <a:extLst xmlns:a="http://schemas.openxmlformats.org/drawingml/2006/main">
              <a:ext uri="{FF2B5EF4-FFF2-40B4-BE49-F238E27FC236}">
                <a16:creationId xmlns:a16="http://schemas.microsoft.com/office/drawing/2014/main" id="{6BEA0174-73F1-44F2-8B28-F83AD024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Текст публикации</a:t>
            </a:r>
          </a:p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или скриншот</a:t>
            </a:r>
          </a:p>
        </p:txBody>
      </p:sp>
      <p:sp>
        <p:nvSpPr>
          <p:cNvPr id="6" name="diagram-27">
            <a:extLst xmlns:a="http://schemas.openxmlformats.org/drawingml/2006/main">
              <a:ext uri="{FF2B5EF4-FFF2-40B4-BE49-F238E27FC236}">
                <a16:creationId xmlns:a16="http://schemas.microsoft.com/office/drawing/2014/main" id="{E7774092-8285-4EF9-862A-2BC0A240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215265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7" name="text-28">
            <a:extLst xmlns:a="http://schemas.openxmlformats.org/drawingml/2006/main">
              <a:ext uri="{FF2B5EF4-FFF2-40B4-BE49-F238E27FC236}">
                <a16:creationId xmlns:a16="http://schemas.microsoft.com/office/drawing/2014/main" id="{C8CD38DE-962F-4308-A0A7-3C6CD8E3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574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defPPr>
            <a:lvl1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1pPr>
            <a:lvl2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2pPr>
            <a:lvl3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3pPr>
            <a:lvl4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4pPr>
            <a:lvl5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5pPr>
            <a:lvl6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6pPr>
            <a:lvl7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7pPr>
            <a:lvl8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8pPr>
            <a:lvl9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ED176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8" name="text-29">
            <a:extLst xmlns:a="http://schemas.openxmlformats.org/drawingml/2006/main">
              <a:ext uri="{FF2B5EF4-FFF2-40B4-BE49-F238E27FC236}">
                <a16:creationId xmlns:a16="http://schemas.microsoft.com/office/drawing/2014/main" id="{EA6D63E2-AE76-462B-9B53-8108C5EF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28925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Сверить</a:t>
            </a:r>
          </a:p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распознавание</a:t>
            </a:r>
          </a:p>
        </p:txBody>
      </p:sp>
      <p:sp>
        <p:nvSpPr>
          <p:cNvPr id="9" name="text-30">
            <a:extLst xmlns:a="http://schemas.openxmlformats.org/drawingml/2006/main">
              <a:ext uri="{FF2B5EF4-FFF2-40B4-BE49-F238E27FC236}">
                <a16:creationId xmlns:a16="http://schemas.microsoft.com/office/drawing/2014/main" id="{863EDAF0-CD31-405D-9C2D-B40C834D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62425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Локальный OCR</a:t>
            </a:r>
          </a:p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для RU и KZ</a:t>
            </a:r>
          </a:p>
        </p:txBody>
      </p:sp>
      <p:sp>
        <p:nvSpPr>
          <p:cNvPr id="10" name="diagram-31">
            <a:extLst xmlns:a="http://schemas.openxmlformats.org/drawingml/2006/main">
              <a:ext uri="{FF2B5EF4-FFF2-40B4-BE49-F238E27FC236}">
                <a16:creationId xmlns:a16="http://schemas.microsoft.com/office/drawing/2014/main" id="{41C21DAF-2757-4420-83C3-C7B66D2B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43325"/>
            <a:ext cx="215265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11" name="text-32">
            <a:extLst xmlns:a="http://schemas.openxmlformats.org/drawingml/2006/main">
              <a:ext uri="{FF2B5EF4-FFF2-40B4-BE49-F238E27FC236}">
                <a16:creationId xmlns:a16="http://schemas.microsoft.com/office/drawing/2014/main" id="{FEA1D379-68DD-489B-B104-C13D58F0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defPPr>
            <a:lvl1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1pPr>
            <a:lvl2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2pPr>
            <a:lvl3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3pPr>
            <a:lvl4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4pPr>
            <a:lvl5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5pPr>
            <a:lvl6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6pPr>
            <a:lvl7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7pPr>
            <a:lvl8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8pPr>
            <a:lvl9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ED176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text-33">
            <a:extLst xmlns:a="http://schemas.openxmlformats.org/drawingml/2006/main">
              <a:ext uri="{FF2B5EF4-FFF2-40B4-BE49-F238E27FC236}">
                <a16:creationId xmlns:a16="http://schemas.microsoft.com/office/drawing/2014/main" id="{21417C13-B04B-40E8-B2D8-6B3A33CA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28925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Проверить</a:t>
            </a:r>
          </a:p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признаки</a:t>
            </a:r>
          </a:p>
        </p:txBody>
      </p:sp>
      <p:sp>
        <p:nvSpPr>
          <p:cNvPr id="13" name="text-34">
            <a:extLst xmlns:a="http://schemas.openxmlformats.org/drawingml/2006/main">
              <a:ext uri="{FF2B5EF4-FFF2-40B4-BE49-F238E27FC236}">
                <a16:creationId xmlns:a16="http://schemas.microsoft.com/office/drawing/2014/main" id="{BB5F7B3B-6941-4038-A498-60886CA0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62425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Цитаты, пропуски</a:t>
            </a:r>
          </a:p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и противоречия</a:t>
            </a:r>
          </a:p>
        </p:txBody>
      </p:sp>
      <p:sp>
        <p:nvSpPr>
          <p:cNvPr id="14" name="diagram-35">
            <a:extLst xmlns:a="http://schemas.openxmlformats.org/drawingml/2006/main">
              <a:ext uri="{FF2B5EF4-FFF2-40B4-BE49-F238E27FC236}">
                <a16:creationId xmlns:a16="http://schemas.microsoft.com/office/drawing/2014/main" id="{B848E53D-5A62-465D-B562-2D6B3DE9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215265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15" name="text-36">
            <a:extLst xmlns:a="http://schemas.openxmlformats.org/drawingml/2006/main">
              <a:ext uri="{FF2B5EF4-FFF2-40B4-BE49-F238E27FC236}">
                <a16:creationId xmlns:a16="http://schemas.microsoft.com/office/drawing/2014/main" id="{E9048D9F-B676-4473-8F46-985B329F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574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defPPr>
            <a:lvl1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1pPr>
            <a:lvl2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2pPr>
            <a:lvl3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3pPr>
            <a:lvl4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4pPr>
            <a:lvl5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5pPr>
            <a:lvl6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6pPr>
            <a:lvl7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7pPr>
            <a:lvl8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8pPr>
            <a:lvl9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ED176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6" name="text-37">
            <a:extLst xmlns:a="http://schemas.openxmlformats.org/drawingml/2006/main">
              <a:ext uri="{FF2B5EF4-FFF2-40B4-BE49-F238E27FC236}">
                <a16:creationId xmlns:a16="http://schemas.microsoft.com/office/drawing/2014/main" id="{0EFAB26E-7171-4092-B66F-48FFE07F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28925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Открыть</a:t>
            </a:r>
          </a:p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дело</a:t>
            </a:r>
          </a:p>
        </p:txBody>
      </p:sp>
      <p:sp>
        <p:nvSpPr>
          <p:cNvPr id="17" name="text-38">
            <a:extLst xmlns:a="http://schemas.openxmlformats.org/drawingml/2006/main">
              <a:ext uri="{FF2B5EF4-FFF2-40B4-BE49-F238E27FC236}">
                <a16:creationId xmlns:a16="http://schemas.microsoft.com/office/drawing/2014/main" id="{13F4AAA2-99EA-4BBF-9632-2346018C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62425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Очередь, ручной</a:t>
            </a:r>
          </a:p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разбор и экспорт</a:t>
            </a:r>
          </a:p>
        </p:txBody>
      </p:sp>
      <p:sp>
        <p:nvSpPr>
          <p:cNvPr id="18" name="diagram-39">
            <a:extLst xmlns:a="http://schemas.openxmlformats.org/drawingml/2006/main">
              <a:ext uri="{FF2B5EF4-FFF2-40B4-BE49-F238E27FC236}">
                <a16:creationId xmlns:a16="http://schemas.microsoft.com/office/drawing/2014/main" id="{196C5A51-E673-4281-A6B9-F7DE9F3E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43325"/>
            <a:ext cx="215265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22" name="text-40">
            <a:extLst xmlns:a="http://schemas.openxmlformats.org/drawingml/2006/main">
              <a:ext uri="{FF2B5EF4-FFF2-40B4-BE49-F238E27FC236}">
                <a16:creationId xmlns:a16="http://schemas.microsoft.com/office/drawing/2014/main" id="{E6042297-5AFD-431A-9D9C-70C5621A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Расшифровку эфира добавляет пользователь.</a:t>
            </a:r>
          </a:p>
          <a:p xmlns:a="http://schemas.openxmlformats.org/drawingml/2006/main">
            <a: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Оригинал изображения остаётся рядом с распознанным текстом.</a:t>
            </a:r>
          </a:p>
        </p:txBody>
      </p:sp>
    </p:spTree>
    <p:extLst>
      <p:ext uri="{BB962C8B-B14F-4D97-AF65-F5344CB8AC3E}">
        <p14:creationId xmlns:p14="http://schemas.microsoft.com/office/powerpoint/2010/main" val="8509889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41">
            <a:extLst xmlns:a="http://schemas.openxmlformats.org/drawingml/2006/main">
              <a:ext uri="{FF2B5EF4-FFF2-40B4-BE49-F238E27FC236}">
                <a16:creationId xmlns:a16="http://schemas.microsoft.com/office/drawing/2014/main" id="{BAE9E7B0-14D9-4AE1-8FD4-D6935ECF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Решение аналитика</a:t>
            </a:r>
          </a:p>
        </p:txBody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EBD704B3-AE74-493F-B295-63570AE3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defPPr>
            <a:lvl1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86157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3" name="text-43">
            <a:extLst xmlns:a="http://schemas.openxmlformats.org/drawingml/2006/main">
              <a:ext uri="{FF2B5EF4-FFF2-40B4-BE49-F238E27FC236}">
                <a16:creationId xmlns:a16="http://schemas.microsoft.com/office/drawing/2014/main" id="{FE6A76C0-CBEF-4CC0-B704-068DC59B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590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Синтетический источник A</a:t>
            </a:r>
          </a:p>
        </p:txBody>
      </p:sp>
      <p:sp>
        <p:nvSpPr>
          <p:cNvPr id="4" name="text-44">
            <a:extLst xmlns:a="http://schemas.openxmlformats.org/drawingml/2006/main">
              <a:ext uri="{FF2B5EF4-FFF2-40B4-BE49-F238E27FC236}">
                <a16:creationId xmlns:a16="http://schemas.microsoft.com/office/drawing/2014/main" id="{41081C9D-96F3-4F17-ABA4-0190B475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590550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33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33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33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33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33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33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33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33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33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3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«Для участия</a:t>
            </a:r>
          </a:p>
          <a:p xmlns:a="http://schemas.openxmlformats.org/drawingml/2006/main">
            <a:pPr algn="l">
              <a:defRPr sz="33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3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купите билет</a:t>
            </a:r>
          </a:p>
          <a:p xmlns:a="http://schemas.openxmlformats.org/drawingml/2006/main">
            <a:pPr algn="l">
              <a:defRPr sz="33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3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за 3 000 ₸»</a:t>
            </a:r>
          </a:p>
        </p:txBody>
      </p:sp>
      <p:sp>
        <p:nvSpPr>
          <p:cNvPr id="5" name="text-45">
            <a:extLst xmlns:a="http://schemas.openxmlformats.org/drawingml/2006/main">
              <a:ext uri="{FF2B5EF4-FFF2-40B4-BE49-F238E27FC236}">
                <a16:creationId xmlns:a16="http://schemas.microsoft.com/office/drawing/2014/main" id="{DD8A87DE-43C0-4E12-A8CC-20DB8D81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590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defPPr>
            <a:lvl1pPr algn="l">
              <a:defRPr sz="20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0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0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0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0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0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0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0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0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pPr>
            <a:r>
              <a:rPr sz="2025" b="1">
                <a:solidFill>
                  <a:srgbClr val="ED1765"/>
                </a:solidFill>
                <a:latin typeface="Manrope"/>
                <a:ea typeface="Manrope"/>
                <a:cs typeface="Manrope"/>
              </a:rPr>
              <a:t>Оплата входа</a:t>
            </a:r>
          </a:p>
        </p:txBody>
      </p:sp>
      <p:sp>
        <p:nvSpPr>
          <p:cNvPr id="6" name="text-46">
            <a:extLst xmlns:a="http://schemas.openxmlformats.org/drawingml/2006/main">
              <a:ext uri="{FF2B5EF4-FFF2-40B4-BE49-F238E27FC236}">
                <a16:creationId xmlns:a16="http://schemas.microsoft.com/office/drawing/2014/main" id="{F21FFCE6-15DC-4752-8B63-770B9B99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600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Источник и исходный фрагмент</a:t>
            </a:r>
          </a:p>
          <a:p xmlns:a="http://schemas.openxmlformats.org/drawingml/2006/main">
            <a: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сохраняются вместе с решением.</a:t>
            </a:r>
          </a:p>
        </p:txBody>
      </p:sp>
      <p:sp>
        <p:nvSpPr>
          <p:cNvPr id="7" name="text-47">
            <a:extLst xmlns:a="http://schemas.openxmlformats.org/drawingml/2006/main">
              <a:ext uri="{FF2B5EF4-FFF2-40B4-BE49-F238E27FC236}">
                <a16:creationId xmlns:a16="http://schemas.microsoft.com/office/drawing/2014/main" id="{0EA7F1E9-8DE3-48B6-81FF-FEFB1F23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Подтверждение признака</a:t>
            </a:r>
          </a:p>
        </p:txBody>
      </p:sp>
      <p:sp>
        <p:nvSpPr>
          <p:cNvPr id="8" name="text-48">
            <a:extLst xmlns:a="http://schemas.openxmlformats.org/drawingml/2006/main">
              <a:ext uri="{FF2B5EF4-FFF2-40B4-BE49-F238E27FC236}">
                <a16:creationId xmlns:a16="http://schemas.microsoft.com/office/drawing/2014/main" id="{76870C28-7293-406F-B1D0-5D9008F5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90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Аналитик сверяет цитату</a:t>
            </a:r>
          </a:p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с исходным материалом.</a:t>
            </a:r>
          </a:p>
        </p:txBody>
      </p:sp>
      <p:sp>
        <p:nvSpPr>
          <p:cNvPr id="9" name="rule-49">
            <a:extLst xmlns:a="http://schemas.openxmlformats.org/drawingml/2006/main">
              <a:ext uri="{FF2B5EF4-FFF2-40B4-BE49-F238E27FC236}">
                <a16:creationId xmlns:a16="http://schemas.microsoft.com/office/drawing/2014/main" id="{5CADF628-121A-4C3E-BBE4-DEAF32ED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05275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10" name="text-50">
            <a:extLst xmlns:a="http://schemas.openxmlformats.org/drawingml/2006/main">
              <a:ext uri="{FF2B5EF4-FFF2-40B4-BE49-F238E27FC236}">
                <a16:creationId xmlns:a16="http://schemas.microsoft.com/office/drawing/2014/main" id="{1BFB6578-E1A4-43EC-A386-E59E4C4C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Проверка противоречий</a:t>
            </a:r>
          </a:p>
        </p:txBody>
      </p:sp>
      <p:sp>
        <p:nvSpPr>
          <p:cNvPr id="11" name="text-51">
            <a:extLst xmlns:a="http://schemas.openxmlformats.org/drawingml/2006/main">
              <a:ext uri="{FF2B5EF4-FFF2-40B4-BE49-F238E27FC236}">
                <a16:creationId xmlns:a16="http://schemas.microsoft.com/office/drawing/2014/main" id="{63D886C9-F773-4340-88D5-1AD94BAE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81600"/>
            <a:ext cx="3905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Неполные условия остаются</a:t>
            </a:r>
          </a:p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в очереди. Изменение материала</a:t>
            </a:r>
          </a:p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делает прежнее решение</a:t>
            </a:r>
          </a:p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неактуальным.</a:t>
            </a:r>
          </a:p>
        </p:txBody>
      </p:sp>
    </p:spTree>
    <p:extLst>
      <p:ext uri="{BB962C8B-B14F-4D97-AF65-F5344CB8AC3E}">
        <p14:creationId xmlns:p14="http://schemas.microsoft.com/office/powerpoint/2010/main" val="14235875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89268-9887-4353-BDD9-5C554D08744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67050" y="4381500"/>
            <a:ext cx="178117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D6900-9466-4A98-92EE-1F4860964CB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67050" y="3562350"/>
            <a:ext cx="1781175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med" len="med"/>
          </a:ln>
        </p:spPr>
      </p:cxnSp>
      <p:sp>
        <p:nvSpPr>
          <p:cNvPr id="19" name="text-52">
            <a:extLst xmlns:a="http://schemas.openxmlformats.org/drawingml/2006/main">
              <a:ext uri="{FF2B5EF4-FFF2-40B4-BE49-F238E27FC236}">
                <a16:creationId xmlns:a16="http://schemas.microsoft.com/office/drawing/2014/main" id="{ACD0EA57-2BBD-4D48-B79F-E6D6CA43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Связи с указанным основанием</a:t>
            </a:r>
          </a:p>
        </p:txBody>
      </p:sp>
      <p:sp>
        <p:nvSpPr>
          <p:cNvPr id="2" name="text-53">
            <a:extLst xmlns:a="http://schemas.openxmlformats.org/drawingml/2006/main">
              <a:ext uri="{FF2B5EF4-FFF2-40B4-BE49-F238E27FC236}">
                <a16:creationId xmlns:a16="http://schemas.microsoft.com/office/drawing/2014/main" id="{26587013-1699-40F0-890D-9F66F86C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defPPr>
            <a:lvl1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86157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3" name="text-54">
            <a:extLst xmlns:a="http://schemas.openxmlformats.org/drawingml/2006/main">
              <a:ext uri="{FF2B5EF4-FFF2-40B4-BE49-F238E27FC236}">
                <a16:creationId xmlns:a16="http://schemas.microsoft.com/office/drawing/2014/main" id="{B5469627-E6D1-41AF-B2FC-26CADE3B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Синтетическая схема</a:t>
            </a:r>
          </a:p>
        </p:txBody>
      </p:sp>
      <p:sp>
        <p:nvSpPr>
          <p:cNvPr id="4" name="diagram-55">
            <a:extLst xmlns:a="http://schemas.openxmlformats.org/drawingml/2006/main">
              <a:ext uri="{FF2B5EF4-FFF2-40B4-BE49-F238E27FC236}">
                <a16:creationId xmlns:a16="http://schemas.microsoft.com/office/drawing/2014/main" id="{8C90C85B-2050-4ED6-A67F-B7BA7E08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5" name="text-56">
            <a:extLst xmlns:a="http://schemas.openxmlformats.org/drawingml/2006/main">
              <a:ext uri="{FF2B5EF4-FFF2-40B4-BE49-F238E27FC236}">
                <a16:creationId xmlns:a16="http://schemas.microsoft.com/office/drawing/2014/main" id="{1C5563C1-515A-4D68-A9DC-48D43DDA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Публикация A</a:t>
            </a:r>
          </a:p>
        </p:txBody>
      </p:sp>
      <p:sp>
        <p:nvSpPr>
          <p:cNvPr id="6" name="diagram-57">
            <a:extLst xmlns:a="http://schemas.openxmlformats.org/drawingml/2006/main">
              <a:ext uri="{FF2B5EF4-FFF2-40B4-BE49-F238E27FC236}">
                <a16:creationId xmlns:a16="http://schemas.microsoft.com/office/drawing/2014/main" id="{B997CCE9-1F7F-40BB-95AC-2CE948A3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7" name="text-58">
            <a:extLst xmlns:a="http://schemas.openxmlformats.org/drawingml/2006/main">
              <a:ext uri="{FF2B5EF4-FFF2-40B4-BE49-F238E27FC236}">
                <a16:creationId xmlns:a16="http://schemas.microsoft.com/office/drawing/2014/main" id="{429EB731-F0DB-4410-9817-2B5597AE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4425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Скриншот B</a:t>
            </a:r>
          </a:p>
        </p:txBody>
      </p:sp>
      <p:sp>
        <p:nvSpPr>
          <p:cNvPr id="8" name="diagram-59">
            <a:extLst xmlns:a="http://schemas.openxmlformats.org/drawingml/2006/main">
              <a:ext uri="{FF2B5EF4-FFF2-40B4-BE49-F238E27FC236}">
                <a16:creationId xmlns:a16="http://schemas.microsoft.com/office/drawing/2014/main" id="{94523E8E-27CC-44D1-8AF5-9386B6E6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952875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9" name="text-60">
            <a:extLst xmlns:a="http://schemas.openxmlformats.org/drawingml/2006/main">
              <a:ext uri="{FF2B5EF4-FFF2-40B4-BE49-F238E27FC236}">
                <a16:creationId xmlns:a16="http://schemas.microsoft.com/office/drawing/2014/main" id="{2073CDF6-B75B-4ADB-9431-47020C6A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14800"/>
            <a:ext cx="2028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Дело K-01</a:t>
            </a:r>
          </a:p>
        </p:txBody>
      </p:sp>
      <p:sp>
        <p:nvSpPr>
          <p:cNvPr id="12" name="text-61">
            <a:extLst xmlns:a="http://schemas.openxmlformats.org/drawingml/2006/main">
              <a:ext uri="{FF2B5EF4-FFF2-40B4-BE49-F238E27FC236}">
                <a16:creationId xmlns:a16="http://schemas.microsoft.com/office/drawing/2014/main" id="{F3A3A770-ED5E-41E9-B15B-8F052455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ED1765"/>
                </a:solidFill>
                <a:latin typeface="Inter"/>
                <a:ea typeface="Inter"/>
                <a:cs typeface="Inter"/>
              </a:rPr>
              <a:t>Общий ID розыгрыша</a:t>
            </a:r>
          </a:p>
        </p:txBody>
      </p:sp>
      <p:sp>
        <p:nvSpPr>
          <p:cNvPr id="13" name="text-62">
            <a:extLst xmlns:a="http://schemas.openxmlformats.org/drawingml/2006/main">
              <a:ext uri="{FF2B5EF4-FFF2-40B4-BE49-F238E27FC236}">
                <a16:creationId xmlns:a16="http://schemas.microsoft.com/office/drawing/2014/main" id="{2EE018EF-1578-42CE-81E0-870B5F78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43200"/>
            <a:ext cx="395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Явно указанная</a:t>
            </a:r>
          </a:p>
          <a:p xmlns:a="http://schemas.openxmlformats.org/drawingml/2006/main">
            <a: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принадлежность кампании</a:t>
            </a:r>
          </a:p>
        </p:txBody>
      </p:sp>
      <p:sp>
        <p:nvSpPr>
          <p:cNvPr id="14" name="text-63">
            <a:extLst xmlns:a="http://schemas.openxmlformats.org/drawingml/2006/main">
              <a:ext uri="{FF2B5EF4-FFF2-40B4-BE49-F238E27FC236}">
                <a16:creationId xmlns:a16="http://schemas.microsoft.com/office/drawing/2014/main" id="{7EC3E1A9-FA72-40CC-B817-48BA4356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24100"/>
            <a:ext cx="319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Основание связи</a:t>
            </a:r>
          </a:p>
        </p:txBody>
      </p:sp>
      <p:sp>
        <p:nvSpPr>
          <p:cNvPr id="15" name="text-64">
            <a:extLst xmlns:a="http://schemas.openxmlformats.org/drawingml/2006/main">
              <a:ext uri="{FF2B5EF4-FFF2-40B4-BE49-F238E27FC236}">
                <a16:creationId xmlns:a16="http://schemas.microsoft.com/office/drawing/2014/main" id="{E8C20153-6D85-4BEF-B329-4577C027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3190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Каждое совпадение</a:t>
            </a:r>
          </a:p>
          <a:p xmlns:a="http://schemas.openxmlformats.org/drawingml/2006/main">
            <a: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показывает источник</a:t>
            </a:r>
          </a:p>
          <a:p xmlns:a="http://schemas.openxmlformats.org/drawingml/2006/main">
            <a:pPr algn="l">
              <a:defRPr sz="195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и конкретный фрагмент.</a:t>
            </a:r>
          </a:p>
        </p:txBody>
      </p:sp>
      <p:sp>
        <p:nvSpPr>
          <p:cNvPr id="16" name="rule-65">
            <a:extLst xmlns:a="http://schemas.openxmlformats.org/drawingml/2006/main">
              <a:ext uri="{FF2B5EF4-FFF2-40B4-BE49-F238E27FC236}">
                <a16:creationId xmlns:a16="http://schemas.microsoft.com/office/drawing/2014/main" id="{DBDA6E4C-7136-44BC-97B8-40A39863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100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sp>
        <p:nvSpPr>
          <p:cNvPr id="17" name="text-66">
            <a:extLst xmlns:a="http://schemas.openxmlformats.org/drawingml/2006/main">
              <a:ext uri="{FF2B5EF4-FFF2-40B4-BE49-F238E27FC236}">
                <a16:creationId xmlns:a16="http://schemas.microsoft.com/office/drawing/2014/main" id="{5CF6DDAC-A2A2-4BF0-84C4-FC60812E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9107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Введённые метаданные</a:t>
            </a:r>
          </a:p>
          <a:p xmlns:a="http://schemas.openxmlformats.org/drawingml/2006/main">
            <a:pPr algn="l">
              <a:defRPr sz="18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требуют проверки.</a:t>
            </a:r>
          </a:p>
          <a:p xmlns:a="http://schemas.openxmlformats.org/drawingml/2006/main">
            <a:pPr algn="l">
              <a:defRPr sz="18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Общий аккаунт не доказывает</a:t>
            </a:r>
          </a:p>
          <a:p xmlns:a="http://schemas.openxmlformats.org/drawingml/2006/main">
            <a:pPr algn="l">
              <a:defRPr sz="18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одну кампанию.</a:t>
            </a:r>
          </a:p>
        </p:txBody>
      </p:sp>
      <p:sp>
        <p:nvSpPr>
          <p:cNvPr id="18" name="text-67">
            <a:extLst xmlns:a="http://schemas.openxmlformats.org/drawingml/2006/main">
              <a:ext uri="{FF2B5EF4-FFF2-40B4-BE49-F238E27FC236}">
                <a16:creationId xmlns:a16="http://schemas.microsoft.com/office/drawing/2014/main" id="{993DD03A-9625-4A3C-AC35-267C04E5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Точная ссылка может дать кандидата на проверку связи.</a:t>
            </a:r>
          </a:p>
        </p:txBody>
      </p:sp>
    </p:spTree>
    <p:extLst>
      <p:ext uri="{BB962C8B-B14F-4D97-AF65-F5344CB8AC3E}">
        <p14:creationId xmlns:p14="http://schemas.microsoft.com/office/powerpoint/2010/main" val="15246969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68">
            <a:extLst xmlns:a="http://schemas.openxmlformats.org/drawingml/2006/main">
              <a:ext uri="{FF2B5EF4-FFF2-40B4-BE49-F238E27FC236}">
                <a16:creationId xmlns:a16="http://schemas.microsoft.com/office/drawing/2014/main" id="{83E98B76-B618-4C74-BF94-EEFB36A8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Проверка качества</a:t>
            </a:r>
          </a:p>
        </p:txBody>
      </p:sp>
      <p:sp>
        <p:nvSpPr>
          <p:cNvPr id="2" name="text-69">
            <a:extLst xmlns:a="http://schemas.openxmlformats.org/drawingml/2006/main">
              <a:ext uri="{FF2B5EF4-FFF2-40B4-BE49-F238E27FC236}">
                <a16:creationId xmlns:a16="http://schemas.microsoft.com/office/drawing/2014/main" id="{69B239C2-3259-4DAD-B6C0-406592FE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defPPr>
            <a:lvl1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86157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  <p:sp>
        <p:nvSpPr>
          <p:cNvPr id="3" name="text-70">
            <a:extLst xmlns:a="http://schemas.openxmlformats.org/drawingml/2006/main">
              <a:ext uri="{FF2B5EF4-FFF2-40B4-BE49-F238E27FC236}">
                <a16:creationId xmlns:a16="http://schemas.microsoft.com/office/drawing/2014/main" id="{0FE7F7EB-9131-467A-8D9A-D3394CF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defPPr>
            <a:lvl1pPr algn="l">
              <a:defRPr sz="17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7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7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7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7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7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7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7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7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ED1765"/>
                </a:solidFill>
                <a:latin typeface="Manrope"/>
                <a:ea typeface="Manrope"/>
                <a:cs typeface="Manrope"/>
              </a:rPr>
              <a:t>Новый AI-синтетический тест</a:t>
            </a:r>
          </a:p>
        </p:txBody>
      </p:sp>
      <p:sp>
        <p:nvSpPr>
          <p:cNvPr id="4" name="text-71">
            <a:extLst xmlns:a="http://schemas.openxmlformats.org/drawingml/2006/main">
              <a:ext uri="{FF2B5EF4-FFF2-40B4-BE49-F238E27FC236}">
                <a16:creationId xmlns:a16="http://schemas.microsoft.com/office/drawing/2014/main" id="{CBFB4225-E9E6-40F1-8BC9-79895631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52675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7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7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7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7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7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7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7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7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7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70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70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100 / 160</a:t>
            </a:r>
          </a:p>
        </p:txBody>
      </p:sp>
      <p:sp>
        <p:nvSpPr>
          <p:cNvPr id="5" name="text-72">
            <a:extLst xmlns:a="http://schemas.openxmlformats.org/drawingml/2006/main">
              <a:ext uri="{FF2B5EF4-FFF2-40B4-BE49-F238E27FC236}">
                <a16:creationId xmlns:a16="http://schemas.microsoft.com/office/drawing/2014/main" id="{749B5524-E373-4106-844A-8D9A5D2E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2025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025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025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025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025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025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025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025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025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Совпадение трёх уровней</a:t>
            </a:r>
          </a:p>
        </p:txBody>
      </p:sp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BC5372C0-6762-4984-9036-46DE0F61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717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Precision high</a:t>
            </a:r>
          </a:p>
        </p:txBody>
      </p:sp>
      <p:sp>
        <p:nvSpPr>
          <p:cNvPr id="7" name="text-74">
            <a:extLst xmlns:a="http://schemas.openxmlformats.org/drawingml/2006/main">
              <a:ext uri="{FF2B5EF4-FFF2-40B4-BE49-F238E27FC236}">
                <a16:creationId xmlns:a16="http://schemas.microsoft.com/office/drawing/2014/main" id="{CF8F2689-1356-4432-A66A-22E4861C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05075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73,9%</a:t>
            </a:r>
          </a:p>
        </p:txBody>
      </p:sp>
      <p:sp>
        <p:nvSpPr>
          <p:cNvPr id="8" name="text-75">
            <a:extLst xmlns:a="http://schemas.openxmlformats.org/drawingml/2006/main">
              <a:ext uri="{FF2B5EF4-FFF2-40B4-BE49-F238E27FC236}">
                <a16:creationId xmlns:a16="http://schemas.microsoft.com/office/drawing/2014/main" id="{E7FA2BD9-5589-4019-9ECC-47D5A56F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52775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Recall high</a:t>
            </a:r>
          </a:p>
        </p:txBody>
      </p:sp>
      <p:sp>
        <p:nvSpPr>
          <p:cNvPr id="9" name="text-76">
            <a:extLst xmlns:a="http://schemas.openxmlformats.org/drawingml/2006/main">
              <a:ext uri="{FF2B5EF4-FFF2-40B4-BE49-F238E27FC236}">
                <a16:creationId xmlns:a16="http://schemas.microsoft.com/office/drawing/2014/main" id="{F7E62342-3736-4CAD-B256-55B8CCBE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861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53,1%</a:t>
            </a:r>
          </a:p>
        </p:txBody>
      </p:sp>
      <p:sp>
        <p:nvSpPr>
          <p:cNvPr id="10" name="text-77">
            <a:extLst xmlns:a="http://schemas.openxmlformats.org/drawingml/2006/main">
              <a:ext uri="{FF2B5EF4-FFF2-40B4-BE49-F238E27FC236}">
                <a16:creationId xmlns:a16="http://schemas.microsoft.com/office/drawing/2014/main" id="{DBF6D64F-D572-4171-A674-95A9F5FD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338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FPR high</a:t>
            </a:r>
          </a:p>
        </p:txBody>
      </p:sp>
      <p:sp>
        <p:nvSpPr>
          <p:cNvPr id="11" name="text-78">
            <a:extLst xmlns:a="http://schemas.openxmlformats.org/drawingml/2006/main">
              <a:ext uri="{FF2B5EF4-FFF2-40B4-BE49-F238E27FC236}">
                <a16:creationId xmlns:a16="http://schemas.microsoft.com/office/drawing/2014/main" id="{A3C79C0A-90DB-4C03-84DA-10B7B178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67125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12,5%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D0FBF-0AB7-4EB0-A1E8-B2E7649BF038}"/>
              </a:ext>
            </a:extLst>
          </p:cNvPr>
          <p:cNvGraphicFramePr/>
          <p:nvPr/>
        </p:nvGraphicFramePr>
        <p:xfrm>
          <a:off xmlns:a="http://schemas.openxmlformats.org/drawingml/2006/main" x="685800" y="4429125"/>
          <a:ext xmlns:a="http://schemas.openxmlformats.org/drawingml/2006/main" cx="10820400" cy="1009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05100"/>
                <a:gridCol w="2705100"/>
                <a:gridCol w="2705100"/>
                <a:gridCol w="2705100"/>
              </a:tblGrid>
              <a:tr h="5048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686157"/>
                          </a:solidFill>
                          <a:latin typeface="Inter"/>
                          <a:ea typeface="Inter"/>
                          <a:cs typeface="Inter"/>
                        </a:rPr>
                        <a:t>Найдено высоких</a:t>
                      </a:r>
                    </a:p>
                  </a:txBody>
                  <a:tcPr marL="0" marR="114300" marT="76200" marB="57150">
                    <a:lnL w="6668">
                      <a:solidFill>
                        <a:srgbClr val="CFC7B9"/>
                      </a:solidFill>
                      <a:prstDash val="solid"/>
                    </a:lnL>
                    <a:lnR w="6668">
                      <a:solidFill>
                        <a:srgbClr val="CFC7B9"/>
                      </a:solidFill>
                      <a:prstDash val="solid"/>
                    </a:lnR>
                    <a:lnT w="6668">
                      <a:solidFill>
                        <a:srgbClr val="CFC7B9"/>
                      </a:solidFill>
                      <a:prstDash val="solid"/>
                    </a:lnT>
                    <a:lnB w="6668">
                      <a:solidFill>
                        <a:srgbClr val="CFC7B9"/>
                      </a:solidFill>
                      <a:prstDash val="soli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686157"/>
                          </a:solidFill>
                          <a:latin typeface="Inter"/>
                          <a:ea typeface="Inter"/>
                          <a:cs typeface="Inter"/>
                        </a:rPr>
                        <a:t>Ложных высоких</a:t>
                      </a:r>
                    </a:p>
                  </a:txBody>
                  <a:tcPr marL="0" marR="114300" marT="76200" marB="57150">
                    <a:lnR w="6668">
                      <a:solidFill>
                        <a:srgbClr val="CFC7B9"/>
                      </a:solidFill>
                      <a:prstDash val="solid"/>
                    </a:lnR>
                    <a:lnT w="6668">
                      <a:solidFill>
                        <a:srgbClr val="CFC7B9"/>
                      </a:solidFill>
                      <a:prstDash val="solid"/>
                    </a:lnT>
                    <a:lnB w="6668">
                      <a:solidFill>
                        <a:srgbClr val="CFC7B9"/>
                      </a:solidFill>
                      <a:prstDash val="soli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686157"/>
                          </a:solidFill>
                          <a:latin typeface="Inter"/>
                          <a:ea typeface="Inter"/>
                          <a:cs typeface="Inter"/>
                        </a:rPr>
                        <a:t>Пропущено высоких</a:t>
                      </a:r>
                    </a:p>
                  </a:txBody>
                  <a:tcPr marL="0" marR="114300" marT="76200" marB="57150">
                    <a:lnR w="6668">
                      <a:solidFill>
                        <a:srgbClr val="CFC7B9"/>
                      </a:solidFill>
                      <a:prstDash val="solid"/>
                    </a:lnR>
                    <a:lnT w="6668">
                      <a:solidFill>
                        <a:srgbClr val="CFC7B9"/>
                      </a:solidFill>
                      <a:prstDash val="solid"/>
                    </a:lnT>
                    <a:lnB w="6668">
                      <a:solidFill>
                        <a:srgbClr val="CFC7B9"/>
                      </a:solidFill>
                      <a:prstDash val="soli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686157"/>
                          </a:solidFill>
                          <a:latin typeface="Inter"/>
                          <a:ea typeface="Inter"/>
                          <a:cs typeface="Inter"/>
                        </a:rPr>
                        <a:t>Верно остальных</a:t>
                      </a:r>
                    </a:p>
                  </a:txBody>
                  <a:tcPr marL="0" marR="114300" marT="76200" marB="57150">
                    <a:lnR w="6668">
                      <a:solidFill>
                        <a:srgbClr val="CFC7B9"/>
                      </a:solidFill>
                      <a:prstDash val="solid"/>
                    </a:lnR>
                    <a:lnT w="6668">
                      <a:solidFill>
                        <a:srgbClr val="CFC7B9"/>
                      </a:solidFill>
                      <a:prstDash val="solid"/>
                    </a:lnT>
                    <a:lnB w="6668">
                      <a:solidFill>
                        <a:srgbClr val="CFC7B9"/>
                      </a:solidFill>
                      <a:prstDash val="solid"/>
                    </a:lnB>
                    <a:solidFill>
                      <a:srgbClr val="F5F0E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Manrope"/>
                          <a:ea typeface="Manrope"/>
                          <a:cs typeface="Manrope"/>
                        </a:rPr>
                        <a:t>34</a:t>
                      </a:r>
                    </a:p>
                  </a:txBody>
                  <a:tcPr marL="0" marR="114300" marT="76200" marB="57150">
                    <a:lnL w="6668">
                      <a:solidFill>
                        <a:srgbClr val="CFC7B9"/>
                      </a:solidFill>
                      <a:prstDash val="solid"/>
                    </a:lnL>
                    <a:lnR w="6668">
                      <a:solidFill>
                        <a:srgbClr val="CFC7B9"/>
                      </a:solidFill>
                      <a:prstDash val="solid"/>
                    </a:lnR>
                    <a:lnB w="6668">
                      <a:solidFill>
                        <a:srgbClr val="CFC7B9"/>
                      </a:solidFill>
                      <a:prstDash val="soli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Manrope"/>
                          <a:ea typeface="Manrope"/>
                          <a:cs typeface="Manrope"/>
                        </a:rPr>
                        <a:t>12</a:t>
                      </a:r>
                    </a:p>
                  </a:txBody>
                  <a:tcPr marL="0" marR="114300" marT="76200" marB="57150">
                    <a:lnR w="6668">
                      <a:solidFill>
                        <a:srgbClr val="CFC7B9"/>
                      </a:solidFill>
                      <a:prstDash val="solid"/>
                    </a:lnR>
                    <a:lnB w="6668">
                      <a:solidFill>
                        <a:srgbClr val="CFC7B9"/>
                      </a:solidFill>
                      <a:prstDash val="soli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Manrope"/>
                          <a:ea typeface="Manrope"/>
                          <a:cs typeface="Manrope"/>
                        </a:rPr>
                        <a:t>30</a:t>
                      </a:r>
                    </a:p>
                  </a:txBody>
                  <a:tcPr marL="0" marR="114300" marT="76200" marB="57150">
                    <a:lnR w="6668">
                      <a:solidFill>
                        <a:srgbClr val="CFC7B9"/>
                      </a:solidFill>
                      <a:prstDash val="solid"/>
                    </a:lnR>
                    <a:lnB w="6668">
                      <a:solidFill>
                        <a:srgbClr val="CFC7B9"/>
                      </a:solidFill>
                      <a:prstDash val="soli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Manrope"/>
                          <a:ea typeface="Manrope"/>
                          <a:cs typeface="Manrope"/>
                        </a:rPr>
                        <a:t>84</a:t>
                      </a:r>
                    </a:p>
                  </a:txBody>
                  <a:tcPr marL="0" marR="114300" marT="76200" marB="57150">
                    <a:lnR w="6668">
                      <a:solidFill>
                        <a:srgbClr val="CFC7B9"/>
                      </a:solidFill>
                      <a:prstDash val="solid"/>
                    </a:lnR>
                    <a:lnB w="6668">
                      <a:solidFill>
                        <a:srgbClr val="CFC7B9"/>
                      </a:solidFill>
                      <a:prstDash val="solid"/>
                    </a:lnB>
                    <a:solidFill>
                      <a:srgbClr val="F5F0E6"/>
                    </a:solidFill>
                  </a:tcPr>
                </a:tc>
              </a:tr>
            </a:tbl>
          </a:graphicData>
        </a:graphic>
      </p:graphicFrame>
      <p:sp>
        <p:nvSpPr>
          <p:cNvPr id="13" name="text-79">
            <a:extLst xmlns:a="http://schemas.openxmlformats.org/drawingml/2006/main">
              <a:ext uri="{FF2B5EF4-FFF2-40B4-BE49-F238E27FC236}">
                <a16:creationId xmlns:a16="http://schemas.microsoft.com/office/drawing/2014/main" id="{032312DF-8698-4F75-8613-3CBC5749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71717"/>
                </a:solidFill>
                <a:latin typeface="Inter"/>
                <a:ea typeface="Inter"/>
                <a:cs typeface="Inter"/>
              </a:rPr>
              <a:t>160 новых AI-сценариев · 4 языка/формы · первый прогон</a:t>
            </a:r>
          </a:p>
        </p:txBody>
      </p:sp>
      <p:sp>
        <p:nvSpPr>
          <p:cNvPr id="14" name="text-80">
            <a:extLst xmlns:a="http://schemas.openxmlformats.org/drawingml/2006/main">
              <a:ext uri="{FF2B5EF4-FFF2-40B4-BE49-F238E27FC236}">
                <a16:creationId xmlns:a16="http://schemas.microsoft.com/office/drawing/2014/main" id="{181739DB-D9E9-4776-B8DB-69F7B1C5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Реальных публикаций, человеческой разметки и замера пользы нет. OCR не входит в этот тест.</a:t>
            </a:r>
          </a:p>
        </p:txBody>
      </p:sp>
    </p:spTree>
    <p:extLst>
      <p:ext uri="{BB962C8B-B14F-4D97-AF65-F5344CB8AC3E}">
        <p14:creationId xmlns:p14="http://schemas.microsoft.com/office/powerpoint/2010/main" val="5416469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3291A-F004-4309-AAB8-AEF10A06614C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38488" y="4905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C7B9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FD004-7FE7-47CE-8182-E5068D33FBE1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138488" y="40957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C7B9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EAFE9-001A-40BD-ABEE-0A9769E5BE67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138488" y="32861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C7B9"/>
            </a:solidFill>
            <a:prstDash val="solid"/>
            <a:tailEnd type="arrow" w="med" len="med"/>
          </a:ln>
        </p:spPr>
      </p:cxnSp>
      <p:sp>
        <p:nvSpPr>
          <p:cNvPr id="26" name="text-81">
            <a:extLst xmlns:a="http://schemas.openxmlformats.org/drawingml/2006/main">
              <a:ext uri="{FF2B5EF4-FFF2-40B4-BE49-F238E27FC236}">
                <a16:creationId xmlns:a16="http://schemas.microsoft.com/office/drawing/2014/main" id="{A3682C18-E649-4E06-B521-75BFB9D2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Локальный MVP и следующий этап</a:t>
            </a:r>
          </a:p>
        </p:txBody>
      </p:sp>
      <p:sp>
        <p:nvSpPr>
          <p:cNvPr id="2" name="text-82">
            <a:extLst xmlns:a="http://schemas.openxmlformats.org/drawingml/2006/main">
              <a:ext uri="{FF2B5EF4-FFF2-40B4-BE49-F238E27FC236}">
                <a16:creationId xmlns:a16="http://schemas.microsoft.com/office/drawing/2014/main" id="{3E148C58-2B44-4753-BA02-2EB883D2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defPPr>
            <a:lvl1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86157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  <p:sp>
        <p:nvSpPr>
          <p:cNvPr id="3" name="text-83">
            <a:extLst xmlns:a="http://schemas.openxmlformats.org/drawingml/2006/main">
              <a:ext uri="{FF2B5EF4-FFF2-40B4-BE49-F238E27FC236}">
                <a16:creationId xmlns:a16="http://schemas.microsoft.com/office/drawing/2014/main" id="{3282EC2E-B4F9-4319-A3C7-106E2B56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Браузерный MVP</a:t>
            </a:r>
          </a:p>
        </p:txBody>
      </p:sp>
      <p:sp>
        <p:nvSpPr>
          <p:cNvPr id="4" name="diagram-84">
            <a:extLst xmlns:a="http://schemas.openxmlformats.org/drawingml/2006/main">
              <a:ext uri="{FF2B5EF4-FFF2-40B4-BE49-F238E27FC236}">
                <a16:creationId xmlns:a16="http://schemas.microsoft.com/office/drawing/2014/main" id="{F4215B20-4170-4132-B20F-66948B33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9053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5" name="text-85">
            <a:extLst xmlns:a="http://schemas.openxmlformats.org/drawingml/2006/main">
              <a:ext uri="{FF2B5EF4-FFF2-40B4-BE49-F238E27FC236}">
                <a16:creationId xmlns:a16="http://schemas.microsoft.com/office/drawing/2014/main" id="{2198C91C-623C-4706-B3A0-505A0E16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67025"/>
            <a:ext cx="4600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Текст и изображения</a:t>
            </a:r>
          </a:p>
        </p:txBody>
      </p:sp>
      <p:sp>
        <p:nvSpPr>
          <p:cNvPr id="6" name="diagram-86">
            <a:extLst xmlns:a="http://schemas.openxmlformats.org/drawingml/2006/main">
              <a:ext uri="{FF2B5EF4-FFF2-40B4-BE49-F238E27FC236}">
                <a16:creationId xmlns:a16="http://schemas.microsoft.com/office/drawing/2014/main" id="{9A88B658-2972-4786-8CB5-D8E000E3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49053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7" name="text-87">
            <a:extLst xmlns:a="http://schemas.openxmlformats.org/drawingml/2006/main">
              <a:ext uri="{FF2B5EF4-FFF2-40B4-BE49-F238E27FC236}">
                <a16:creationId xmlns:a16="http://schemas.microsoft.com/office/drawing/2014/main" id="{7E1F42A5-0751-4B2C-B517-633F9F71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4600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Локальный OCR RU/KZ</a:t>
            </a:r>
          </a:p>
        </p:txBody>
      </p:sp>
      <p:sp>
        <p:nvSpPr>
          <p:cNvPr id="8" name="diagram-88">
            <a:extLst xmlns:a="http://schemas.openxmlformats.org/drawingml/2006/main">
              <a:ext uri="{FF2B5EF4-FFF2-40B4-BE49-F238E27FC236}">
                <a16:creationId xmlns:a16="http://schemas.microsoft.com/office/drawing/2014/main" id="{FE1BAB48-768F-4ECB-A2C7-D16732D2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9053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9" name="text-89">
            <a:extLst xmlns:a="http://schemas.openxmlformats.org/drawingml/2006/main">
              <a:ext uri="{FF2B5EF4-FFF2-40B4-BE49-F238E27FC236}">
                <a16:creationId xmlns:a16="http://schemas.microsoft.com/office/drawing/2014/main" id="{84BB0872-6DDF-4AE0-B1BF-6F9F053A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86275"/>
            <a:ext cx="4600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Правила и точные цитаты</a:t>
            </a:r>
          </a:p>
        </p:txBody>
      </p:sp>
      <p:sp>
        <p:nvSpPr>
          <p:cNvPr id="10" name="diagram-90">
            <a:extLst xmlns:a="http://schemas.openxmlformats.org/drawingml/2006/main">
              <a:ext uri="{FF2B5EF4-FFF2-40B4-BE49-F238E27FC236}">
                <a16:creationId xmlns:a16="http://schemas.microsoft.com/office/drawing/2014/main" id="{56A4792A-067B-4DC3-9F49-18CE76DD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49053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2"/>
          </a:solidFill>
          <a:ln xmlns:a="http://schemas.openxmlformats.org/drawingml/2006/main" w="14288">
            <a:solidFill>
              <a:srgbClr val="171717"/>
            </a:solidFill>
            <a:prstDash val="solid"/>
          </a:ln>
        </p:spPr>
      </p:sp>
      <p:sp>
        <p:nvSpPr>
          <p:cNvPr id="11" name="text-91">
            <a:extLst xmlns:a="http://schemas.openxmlformats.org/drawingml/2006/main">
              <a:ext uri="{FF2B5EF4-FFF2-40B4-BE49-F238E27FC236}">
                <a16:creationId xmlns:a16="http://schemas.microsoft.com/office/drawing/2014/main" id="{D92BD459-66C0-4643-95E0-F337763D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4600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Решение и экспорт</a:t>
            </a:r>
          </a:p>
        </p:txBody>
      </p:sp>
      <p:sp>
        <p:nvSpPr>
          <p:cNvPr id="15" name="text-92">
            <a:extLst xmlns:a="http://schemas.openxmlformats.org/drawingml/2006/main">
              <a:ext uri="{FF2B5EF4-FFF2-40B4-BE49-F238E27FC236}">
                <a16:creationId xmlns:a16="http://schemas.microsoft.com/office/drawing/2014/main" id="{AC0B8DD0-5576-4C5D-B13E-992B934B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Хранение в этом браузере</a:t>
            </a:r>
          </a:p>
        </p:txBody>
      </p:sp>
      <p:sp>
        <p:nvSpPr>
          <p:cNvPr id="16" name="text-93">
            <a:extLst xmlns:a="http://schemas.openxmlformats.org/drawingml/2006/main">
              <a:ext uri="{FF2B5EF4-FFF2-40B4-BE49-F238E27FC236}">
                <a16:creationId xmlns:a16="http://schemas.microsoft.com/office/drawing/2014/main" id="{40694649-53E3-4526-8364-EF106FAB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Пилот · 4 недели</a:t>
            </a:r>
          </a:p>
        </p:txBody>
      </p:sp>
      <p:sp>
        <p:nvSpPr>
          <p:cNvPr id="17" name="text-94">
            <a:extLst xmlns:a="http://schemas.openxmlformats.org/drawingml/2006/main">
              <a:ext uri="{FF2B5EF4-FFF2-40B4-BE49-F238E27FC236}">
                <a16:creationId xmlns:a16="http://schemas.microsoft.com/office/drawing/2014/main" id="{585511C5-94E9-4E9E-8570-0597E2A9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ED1765"/>
                </a:solidFill>
                <a:latin typeface="Inter"/>
                <a:ea typeface="Inter"/>
                <a:cs typeface="Inter"/>
              </a:rPr>
              <a:t>1 неделя</a:t>
            </a:r>
          </a:p>
        </p:txBody>
      </p:sp>
      <p:sp>
        <p:nvSpPr>
          <p:cNvPr id="18" name="text-95">
            <a:extLst xmlns:a="http://schemas.openxmlformats.org/drawingml/2006/main">
              <a:ext uri="{FF2B5EF4-FFF2-40B4-BE49-F238E27FC236}">
                <a16:creationId xmlns:a16="http://schemas.microsoft.com/office/drawing/2014/main" id="{5755C937-7C73-4669-BD76-8271BED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7336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Разрешённый корпус и разметка</a:t>
            </a:r>
          </a:p>
        </p:txBody>
      </p:sp>
      <p:sp>
        <p:nvSpPr>
          <p:cNvPr id="19" name="text-96">
            <a:extLst xmlns:a="http://schemas.openxmlformats.org/drawingml/2006/main">
              <a:ext uri="{FF2B5EF4-FFF2-40B4-BE49-F238E27FC236}">
                <a16:creationId xmlns:a16="http://schemas.microsoft.com/office/drawing/2014/main" id="{E74BC792-7035-4089-9456-7387B76A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ED1765"/>
                </a:solidFill>
                <a:latin typeface="Inter"/>
                <a:ea typeface="Inter"/>
                <a:cs typeface="Inter"/>
              </a:rPr>
              <a:t>2 неделя</a:t>
            </a:r>
          </a:p>
        </p:txBody>
      </p:sp>
      <p:sp>
        <p:nvSpPr>
          <p:cNvPr id="20" name="text-97">
            <a:extLst xmlns:a="http://schemas.openxmlformats.org/drawingml/2006/main">
              <a:ext uri="{FF2B5EF4-FFF2-40B4-BE49-F238E27FC236}">
                <a16:creationId xmlns:a16="http://schemas.microsoft.com/office/drawing/2014/main" id="{6B05F273-86D6-46D9-BE0D-2C32A08A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48050"/>
            <a:ext cx="27336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Сервер, роли и журнал решений</a:t>
            </a:r>
          </a:p>
        </p:txBody>
      </p:sp>
      <p:sp>
        <p:nvSpPr>
          <p:cNvPr id="21" name="text-98">
            <a:extLst xmlns:a="http://schemas.openxmlformats.org/drawingml/2006/main">
              <a:ext uri="{FF2B5EF4-FFF2-40B4-BE49-F238E27FC236}">
                <a16:creationId xmlns:a16="http://schemas.microsoft.com/office/drawing/2014/main" id="{E601BC9D-697F-45EC-8A11-EB8C27D2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338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ED1765"/>
                </a:solidFill>
                <a:latin typeface="Inter"/>
                <a:ea typeface="Inter"/>
                <a:cs typeface="Inter"/>
              </a:rPr>
              <a:t>3 неделя</a:t>
            </a:r>
          </a:p>
        </p:txBody>
      </p:sp>
      <p:sp>
        <p:nvSpPr>
          <p:cNvPr id="22" name="text-99">
            <a:extLst xmlns:a="http://schemas.openxmlformats.org/drawingml/2006/main">
              <a:ext uri="{FF2B5EF4-FFF2-40B4-BE49-F238E27FC236}">
                <a16:creationId xmlns:a16="http://schemas.microsoft.com/office/drawing/2014/main" id="{A16A6FD2-30B9-4B13-87EB-51A00E81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33850"/>
            <a:ext cx="27336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Качество RU/KZ и ошибки OCR</a:t>
            </a:r>
          </a:p>
        </p:txBody>
      </p:sp>
      <p:sp>
        <p:nvSpPr>
          <p:cNvPr id="23" name="text-100">
            <a:extLst xmlns:a="http://schemas.openxmlformats.org/drawingml/2006/main">
              <a:ext uri="{FF2B5EF4-FFF2-40B4-BE49-F238E27FC236}">
                <a16:creationId xmlns:a16="http://schemas.microsoft.com/office/drawing/2014/main" id="{9E80A5DE-E0CA-4931-B7FB-8AD8432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D1765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ED1765"/>
                </a:solidFill>
                <a:latin typeface="Inter"/>
                <a:ea typeface="Inter"/>
                <a:cs typeface="Inter"/>
              </a:rPr>
              <a:t>4 неделя</a:t>
            </a:r>
          </a:p>
        </p:txBody>
      </p:sp>
      <p:sp>
        <p:nvSpPr>
          <p:cNvPr id="24" name="text-101">
            <a:extLst xmlns:a="http://schemas.openxmlformats.org/drawingml/2006/main">
              <a:ext uri="{FF2B5EF4-FFF2-40B4-BE49-F238E27FC236}">
                <a16:creationId xmlns:a16="http://schemas.microsoft.com/office/drawing/2014/main" id="{4C28BFA3-F35E-4FA5-9F2C-48D214A7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9650"/>
            <a:ext cx="27336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Работа аналитиков и отчёт</a:t>
            </a:r>
          </a:p>
        </p:txBody>
      </p:sp>
      <p:sp>
        <p:nvSpPr>
          <p:cNvPr id="25" name="text-102">
            <a:extLst xmlns:a="http://schemas.openxmlformats.org/drawingml/2006/main">
              <a:ext uri="{FF2B5EF4-FFF2-40B4-BE49-F238E27FC236}">
                <a16:creationId xmlns:a16="http://schemas.microsoft.com/office/drawing/2014/main" id="{A1B452D6-836E-45B2-A11D-7E889008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76925"/>
            <a:ext cx="4257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Человеческий пилот ещё не проведён.</a:t>
            </a:r>
          </a:p>
          <a:p xmlns:a="http://schemas.openxmlformats.org/drawingml/2006/main">
            <a:pPr algn="l">
              <a:defRPr sz="1650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Экономия времени пока не измерена.</a:t>
            </a:r>
          </a:p>
        </p:txBody>
      </p:sp>
    </p:spTree>
    <p:extLst>
      <p:ext uri="{BB962C8B-B14F-4D97-AF65-F5344CB8AC3E}">
        <p14:creationId xmlns:p14="http://schemas.microsoft.com/office/powerpoint/2010/main" val="4167525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03">
            <a:extLst xmlns:a="http://schemas.openxmlformats.org/drawingml/2006/main">
              <a:ext uri="{FF2B5EF4-FFF2-40B4-BE49-F238E27FC236}">
                <a16:creationId xmlns:a16="http://schemas.microsoft.com/office/drawing/2014/main" id="{51C978FA-DE82-44B7-87FC-80C6D47C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defPPr>
            <a:lvl1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6157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86157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  <p:sp>
        <p:nvSpPr>
          <p:cNvPr id="2" name="text-104">
            <a:extLst xmlns:a="http://schemas.openxmlformats.org/drawingml/2006/main">
              <a:ext uri="{FF2B5EF4-FFF2-40B4-BE49-F238E27FC236}">
                <a16:creationId xmlns:a16="http://schemas.microsoft.com/office/drawing/2014/main" id="{AAB850A4-F233-4558-94A5-40DCB0E3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15625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defPPr>
            <a:lvl1pPr algn="l">
              <a:defRPr sz="5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1pPr>
            <a:lvl2pPr algn="l">
              <a:defRPr sz="5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2pPr>
            <a:lvl3pPr algn="l">
              <a:defRPr sz="5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3pPr>
            <a:lvl4pPr algn="l">
              <a:defRPr sz="5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4pPr>
            <a:lvl5pPr algn="l">
              <a:defRPr sz="5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5pPr>
            <a:lvl6pPr algn="l">
              <a:defRPr sz="5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6pPr>
            <a:lvl7pPr algn="l">
              <a:defRPr sz="5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7pPr>
            <a:lvl8pPr algn="l">
              <a:defRPr sz="5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8pPr>
            <a:lvl9pPr algn="l">
              <a:defRPr sz="5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52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Живая</a:t>
            </a:r>
          </a:p>
          <a:p xmlns:a="http://schemas.openxmlformats.org/drawingml/2006/main">
            <a:pPr algn="l">
              <a:defRPr sz="52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52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демонстрация</a:t>
            </a:r>
          </a:p>
        </p:txBody>
      </p:sp>
      <p:sp>
        <p:nvSpPr>
          <p:cNvPr id="3" name="text-105">
            <a:extLst xmlns:a="http://schemas.openxmlformats.org/drawingml/2006/main">
              <a:ext uri="{FF2B5EF4-FFF2-40B4-BE49-F238E27FC236}">
                <a16:creationId xmlns:a16="http://schemas.microsoft.com/office/drawing/2014/main" id="{D544B83D-0B71-4AC4-93C6-69916378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24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24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24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24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24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24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24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24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24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2400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Платное участие. Бесплатный пример.</a:t>
            </a:r>
          </a:p>
          <a:p xmlns:a="http://schemas.openxmlformats.org/drawingml/2006/main">
            <a:pPr algn="l">
              <a:defRPr sz="2400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2400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Точные цитаты и ручной разбор.</a:t>
            </a:r>
          </a:p>
        </p:txBody>
      </p:sp>
      <p:sp>
        <p:nvSpPr>
          <p:cNvPr id="4" name="text-106">
            <a:extLst xmlns:a="http://schemas.openxmlformats.org/drawingml/2006/main">
              <a:ext uri="{FF2B5EF4-FFF2-40B4-BE49-F238E27FC236}">
                <a16:creationId xmlns:a16="http://schemas.microsoft.com/office/drawing/2014/main" id="{6A506C71-2AC9-44F1-845C-0C01B5CA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defPPr>
            <a:lvl1pPr algn="l">
              <a:defRPr sz="26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6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6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6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6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6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6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6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6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D1765"/>
                </a:solidFill>
                <a:latin typeface="Manrope"/>
                <a:ea typeface="Manrope"/>
                <a:cs typeface="Manrope"/>
              </a:defRPr>
            </a:pPr>
            <a:r>
              <a:rPr sz="2625" b="1" u="sng">
                <a:solidFill>
                  <a:srgbClr val="ED1765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e684676becac4e79"/>
              </a:rPr>
              <a:t>Открыть ІЗ</a:t>
            </a:r>
          </a:p>
        </p:txBody>
      </p:sp>
      <p:sp>
        <p:nvSpPr>
          <p:cNvPr id="5" name="text-107">
            <a:extLst xmlns:a="http://schemas.openxmlformats.org/drawingml/2006/main">
              <a:ext uri="{FF2B5EF4-FFF2-40B4-BE49-F238E27FC236}">
                <a16:creationId xmlns:a16="http://schemas.microsoft.com/office/drawing/2014/main" id="{2BF6334A-3937-4569-B2F6-B40A1BEF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6157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6157"/>
                </a:solidFill>
                <a:latin typeface="Inter"/>
                <a:ea typeface="Inter"/>
                <a:cs typeface="Inter"/>
              </a:rPr>
              <a:t>iz-safenet-kz.garden-gleam-9738.chatgpt.site</a:t>
            </a:r>
          </a:p>
        </p:txBody>
      </p:sp>
      <p:sp>
        <p:nvSpPr>
          <p:cNvPr id="6" name="text-108">
            <a:extLst xmlns:a="http://schemas.openxmlformats.org/drawingml/2006/main">
              <a:ext uri="{FF2B5EF4-FFF2-40B4-BE49-F238E27FC236}">
                <a16:creationId xmlns:a16="http://schemas.microsoft.com/office/drawing/2014/main" id="{8DC8A8F7-25B6-40EB-B871-2B6D9811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ІЗ выделяет признаки для проверки.</a:t>
            </a:r>
          </a:p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717"/>
                </a:solidFill>
                <a:latin typeface="Inter"/>
                <a:ea typeface="Inter"/>
                <a:cs typeface="Inter"/>
              </a:rPr>
              <a:t>Юридическую оценку выполняет специалист.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E7112-FD5E-46F0-89FA-BF0549F7E2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4008267fe497e"/>
          <a:stretch xmlns:a="http://schemas.openxmlformats.org/drawingml/2006/main"/>
        </p:blipFill>
        <p:spPr>
          <a:xfrm xmlns:a="http://schemas.openxmlformats.org/drawingml/2006/main">
            <a:off x="9825038" y="5934075"/>
            <a:ext cx="1685925" cy="561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680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2026-10-22T19:09:27.1380000Z</dcterms:created>
  <dcterms:modified xsi:type="dcterms:W3CDTF">2026-10-22T19:09:27.1380000Z</dcterms:modified>
</coreProperties>
</file>