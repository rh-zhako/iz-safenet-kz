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ffdc5c83cb4768" /><Relationship Type="http://schemas.openxmlformats.org/officeDocument/2006/relationships/extended-properties" Target="/docProps/app.xml" Id="R9f5e81fce80f4c4a" /><Relationship Type="http://schemas.openxmlformats.org/officeDocument/2006/relationships/officeDocument" Target="/ppt/presentation.xml" Id="R5c3280e236fe42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9cc0c98b464bf7"/>
  </p:sldMasterIdLst>
  <p:notesMasterIdLst>
    <p:notesMasterId xmlns:r="http://schemas.openxmlformats.org/officeDocument/2006/relationships" r:id="R6c1cc60d8e5d4664"/>
  </p:notesMasterIdLst>
  <p:sldIdLst>
    <p:sldId xmlns:r="http://schemas.openxmlformats.org/officeDocument/2006/relationships" id="256" r:id="Rc06bea5f49c243e7"/>
    <p:sldId xmlns:r="http://schemas.openxmlformats.org/officeDocument/2006/relationships" id="257" r:id="R121b6e40b4424a7f"/>
    <p:sldId xmlns:r="http://schemas.openxmlformats.org/officeDocument/2006/relationships" id="258" r:id="R99b9630a56ad4f10"/>
    <p:sldId xmlns:r="http://schemas.openxmlformats.org/officeDocument/2006/relationships" id="259" r:id="R42fe6a41f877448f"/>
    <p:sldId xmlns:r="http://schemas.openxmlformats.org/officeDocument/2006/relationships" id="260" r:id="Rc064b3bb24604b61"/>
    <p:sldId xmlns:r="http://schemas.openxmlformats.org/officeDocument/2006/relationships" id="261" r:id="R3ce6445748a54109"/>
    <p:sldId xmlns:r="http://schemas.openxmlformats.org/officeDocument/2006/relationships" id="262" r:id="R1c508f97c6464dd5"/>
    <p:sldId xmlns:r="http://schemas.openxmlformats.org/officeDocument/2006/relationships" id="263" r:id="R2c0630304a684d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cc4c4cebf940e4" /><Relationship Type="http://schemas.openxmlformats.org/officeDocument/2006/relationships/slideMaster" Target="/ppt/slideMasters/slideMaster1.xml" Id="R7d9cc0c98b464bf7" /><Relationship Type="http://schemas.openxmlformats.org/officeDocument/2006/relationships/notesMaster" Target="/ppt/notesMasters/notesMaster1.xml" Id="R6c1cc60d8e5d4664" /><Relationship Type="http://schemas.openxmlformats.org/officeDocument/2006/relationships/presProps" Target="/ppt/presProps.xml" Id="R45c563db2f5c4790" /><Relationship Type="http://schemas.openxmlformats.org/officeDocument/2006/relationships/tableStyles" Target="/ppt/tableStyles.xml" Id="R58b75bf407e94647" /><Relationship Type="http://schemas.openxmlformats.org/officeDocument/2006/relationships/slide" Target="/ppt/slides/slide1.xml" Id="Rc06bea5f49c243e7" /><Relationship Type="http://schemas.openxmlformats.org/officeDocument/2006/relationships/slide" Target="/ppt/slides/slide2.xml" Id="R121b6e40b4424a7f" /><Relationship Type="http://schemas.openxmlformats.org/officeDocument/2006/relationships/slide" Target="/ppt/slides/slide3.xml" Id="R99b9630a56ad4f10" /><Relationship Type="http://schemas.openxmlformats.org/officeDocument/2006/relationships/slide" Target="/ppt/slides/slide4.xml" Id="R42fe6a41f877448f" /><Relationship Type="http://schemas.openxmlformats.org/officeDocument/2006/relationships/slide" Target="/ppt/slides/slide5.xml" Id="Rc064b3bb24604b61" /><Relationship Type="http://schemas.openxmlformats.org/officeDocument/2006/relationships/slide" Target="/ppt/slides/slide6.xml" Id="R3ce6445748a54109" /><Relationship Type="http://schemas.openxmlformats.org/officeDocument/2006/relationships/slide" Target="/ppt/slides/slide7.xml" Id="R1c508f97c6464dd5" /><Relationship Type="http://schemas.openxmlformats.org/officeDocument/2006/relationships/slide" Target="/ppt/slides/slide8.xml" Id="R2c0630304a684d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17da236def40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c0c71427844f38" /><Relationship Type="http://schemas.openxmlformats.org/officeDocument/2006/relationships/notesMaster" Target="/ppt/notesMasters/notesMaster1.xml" Id="R9f915b7ede514f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02f8b07ffe4693" /><Relationship Type="http://schemas.openxmlformats.org/officeDocument/2006/relationships/notesMaster" Target="/ppt/notesMasters/notesMaster1.xml" Id="R5a0031365b0f4a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3fc52b6b484c5f" /><Relationship Type="http://schemas.openxmlformats.org/officeDocument/2006/relationships/notesMaster" Target="/ppt/notesMasters/notesMaster1.xml" Id="R2b471d9e816b40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f2de9689c444ac" /><Relationship Type="http://schemas.openxmlformats.org/officeDocument/2006/relationships/notesMaster" Target="/ppt/notesMasters/notesMaster1.xml" Id="Rad634c52290a48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111d1ef43141bc" /><Relationship Type="http://schemas.openxmlformats.org/officeDocument/2006/relationships/notesMaster" Target="/ppt/notesMasters/notesMaster1.xml" Id="Reb2c0e8aa64148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6f21b7e57a4f8b" /><Relationship Type="http://schemas.openxmlformats.org/officeDocument/2006/relationships/notesMaster" Target="/ppt/notesMasters/notesMaster1.xml" Id="R83f3bdf135be42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5f2ae3c3784d60" /><Relationship Type="http://schemas.openxmlformats.org/officeDocument/2006/relationships/notesMaster" Target="/ppt/notesMasters/notesMaster1.xml" Id="Ra8e0d315837041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f203dbc0ff444f" /><Relationship Type="http://schemas.openxmlformats.org/officeDocument/2006/relationships/notesMaster" Target="/ppt/notesMasters/notesMaster1.xml" Id="R75370364590f42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0:00-0:20. ІЗ собирает условия одного розыгрыша и выделяет признаки платного участия с исходными цитатами. Автоматический приоритет помогает начать проверку. Аналитик отдельно подтверждает каждое условие; правовую оценку даёт специалист. Источник: предоставленный бриф SafeNet_KZ_Hackathon, страницы 1-4. Команда TEMIR; состав и контакт требуют подтверждения участниками.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0:20-0:55. Приз, оплата и выбор победителя могут находиться в разных материалах. В примере их связывает явный ID кампании. В v1.7 правила разбирают роль фразы, отрицание, неопределённость и этап выбора. Обязательный платёж именно за допуск отличается от доставки после победы. Предварительная жеребьёвка отличается от выбора итогового победителя. Это словарные и контекстные эвристики, не обученная языковая модель; ошибки остаются. Источники: dist/engine.mjs, METHODOLOGY.md, dist/network-demo.mjs.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0:55-1:40. Пользователь вставляет текст, предоставленную расшифровку эфира или скриншот. OCR русского и казахского текста работает локально. Результат показывает найденные фразы, недостающие условия и противоречия. Открываем платный пример и сравниваем с бесплатным. Низкий приоритет не гарантирует безопасность. На скриншоте реальный интерфейс MVP с синтетическими условиями. Источники: dist/app.mjs, dist/consumer.mjs, evaluation/ocr-stress-report.json. Реальное качество OCR этим маленьким контролируемым набором не подтверждено.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1:40-2:30. У аналитика отдельный пошаговый разбор. Для приза, обязательной оплаты и случайного выбора он выбирает подтверждено, не подтверждено или неясно. Подтверждение требует точной цитаты из выбранного текста; сохраняются позиции и происхождение. Высокий ручной приоритет требует всех трёх подтверждений и комментария. Изменение материалов или версии правил делает запись устаревшей. Это человеческая запись, она не улучшает метрики детектора автоматически. Сеть отдельно показывает серии по разным явным ID одного указанного аккаунта и кандидатов по точному URL или маскированному контакту. Общий владелец и нарушение не устанавливаются. Источники: dist/structured-review.mjs, dist/structured-review-view.mjs, dist/network.mjs.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2:30-3:25. На 200 новых AI-синтетических делах precision высокого приоритета 83,67%, recall 51,25%, FPR 6,67%. Из 80 авторских high движок пропустил 39: 23 отнесены к medium, 16 к low. Три уровня совпали в 116/200; все 84 ошибки открыты. Очередь high+medium имеет recall 73,33% и FPR 27,5%. На одном v5 прежняя v1.6 дала 109/200, новая v1.7 - 116/200: 11 исправлений, 4 ухудшения. Это прозрачный прототип с существенными пропусками, ему нельзя поручать самостоятельную защиту или санкции. Движок заморожен до v5 и после первого запуска не менялся. Две AI-разметки совпали 200/200, но специалистов и реальных публикаций в проверке нет. Источники: dist/evaluation-report.json, evaluation/engine-v1.7-freeze.json, EVALUATION.md. SHA-256 d75b486aa53bdae2462b7ae121ddfbc76b3076f9cbc7f68223bcadb0b55619c3.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3:25-3:55. Локальная резервная копия ограничена 50 МБ, 2000 делами и 10000 источниками. Восстановление идёт ограниченными пакетами с прогрессом и отменой до записи. Повреждённый снимок не затирается. Ввод сохраняется как текстовый черновик, выбранные файлы остаются только в памяти вкладки. Разные исходные ID дают конфликт, а раздельные копии сохраняют первоначальное дело и не наследуют его решения. Сервер и общий доступ пока не реализованы. Источники: dist/backup.mjs, dist/input-drafts.mjs, dist/campaign-integrity.mjs, METHODOLOGY.md.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3:55-4:40. Следующий шаг: разрешённый корпус полных условий, два специалиста и новый тест минимум 200 кампаний. Для оценки удобства нужен контрольный протокол работы с системой и без неё, реальные замеры времени и ошибок. Затем API импорта, серверная очередь, роли и журнал. Цели precision&gt;=90%, recall&gt;=85%, strictFPR&lt;=5%, queueFPR&lt;=15% относятся к будущему реальному пилоту; текущие AI-синтетические результаты их не подтверждают. Источники: ROADMAP.md, PILOT_PROTOCOL.md. Состав команды 3-5 человек, контакт, регистрация и фактическая подача остаются действиями участников.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4:40-5:00. В демо показываем платный и бесплатный пример, затем ручной разбор с цитатами, сеть и очередь. В разделе качества открыты v5, все ошибки, интервалы, языки и сравнение со старой версией. В пакете есть методология и протокол будущего пилота. Эти материалы позволяют проверить заявленные функции. Итоговую оценку и допуск определяет жюри. Источники: SUBMISSION.md, dist/submission/index.html. Демо: https://iz-safenet-kz.garden-gleam-9738.chatgpt.site/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66fcea25e540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21b3c5ddd945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9d8bb63c043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3ff82f4064e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d97af2e8943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0043f258340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ACAEFF-E123-4A79-80C5-9C7CFEFDD8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17B504-8199-4353-8A33-D2C9C623E1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0B7ABD3-AF47-4F20-9BD8-D91ED94879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8239A0-FA5E-420B-B866-59EE62682C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B04BD8-BC7A-40D1-B15E-3BB3A88839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BE9B50-DCBD-4FFA-A2C2-49C20272AD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FA9ACD-17E8-4ABD-AD53-15F3C29527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23F672-0385-43A3-AEDC-053D2A7450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9C1CBF-114B-4F31-B658-3538B0458C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BD5AA3-920E-4C84-AD15-CEE9A94280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878de1606a493c" /><Relationship Type="http://schemas.openxmlformats.org/officeDocument/2006/relationships/slideLayout" Target="/ppt/slideLayouts/slideLayout1.xml" Id="R948d1717fa2e4e6f" /><Relationship Type="http://schemas.openxmlformats.org/officeDocument/2006/relationships/slideLayout" Target="/ppt/slideLayouts/slideLayout2.xml" Id="Rd8f25af87f2a46d9" /><Relationship Type="http://schemas.openxmlformats.org/officeDocument/2006/relationships/slideLayout" Target="/ppt/slideLayouts/slideLayout3.xml" Id="R658f762eb63147aa" /><Relationship Type="http://schemas.openxmlformats.org/officeDocument/2006/relationships/slideLayout" Target="/ppt/slideLayouts/slideLayout4.xml" Id="R8402ed93b1474ccb" /><Relationship Type="http://schemas.openxmlformats.org/officeDocument/2006/relationships/slideLayout" Target="/ppt/slideLayouts/slideLayout5.xml" Id="R5c648d130e424dfc" /><Relationship Type="http://schemas.openxmlformats.org/officeDocument/2006/relationships/slideLayout" Target="/ppt/slideLayouts/slideLayout6.xml" Id="Re69257da7a4944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8d1717fa2e4e6f"/>
    <p:sldLayoutId xmlns:r="http://schemas.openxmlformats.org/officeDocument/2006/relationships" id="2147483650" r:id="Rd8f25af87f2a46d9"/>
    <p:sldLayoutId xmlns:r="http://schemas.openxmlformats.org/officeDocument/2006/relationships" id="2147483651" r:id="R658f762eb63147aa"/>
    <p:sldLayoutId xmlns:r="http://schemas.openxmlformats.org/officeDocument/2006/relationships" id="2147483652" r:id="R8402ed93b1474ccb"/>
    <p:sldLayoutId xmlns:r="http://schemas.openxmlformats.org/officeDocument/2006/relationships" id="2147483653" r:id="R5c648d130e424dfc"/>
    <p:sldLayoutId xmlns:r="http://schemas.openxmlformats.org/officeDocument/2006/relationships" id="2147483654" r:id="Re69257da7a4944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8aa128fef14da9" /><Relationship Type="http://schemas.openxmlformats.org/officeDocument/2006/relationships/notesSlide" Target="/ppt/notesSlides/notesSlide1.xml" Id="Re0d3f694757546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493fb9400f4fa8" /><Relationship Type="http://schemas.openxmlformats.org/officeDocument/2006/relationships/notesSlide" Target="/ppt/notesSlides/notesSlide2.xml" Id="R188dbc30a6e54c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affa92cb534ce3" /><Relationship Type="http://schemas.openxmlformats.org/officeDocument/2006/relationships/image" Target="/ppt/media/image.jpeg" Id="R9e3cb920066c4de2" /><Relationship Type="http://schemas.openxmlformats.org/officeDocument/2006/relationships/notesSlide" Target="/ppt/notesSlides/notesSlide3.xml" Id="R949bd0507ce343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4bd671f4964860" /><Relationship Type="http://schemas.openxmlformats.org/officeDocument/2006/relationships/notesSlide" Target="/ppt/notesSlides/notesSlide4.xml" Id="Rf9009222ff7147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35be242c014b9f" /><Relationship Type="http://schemas.openxmlformats.org/officeDocument/2006/relationships/notesSlide" Target="/ppt/notesSlides/notesSlide5.xml" Id="R1aee228f40644f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0364a20e84be8" /><Relationship Type="http://schemas.openxmlformats.org/officeDocument/2006/relationships/notesSlide" Target="/ppt/notesSlides/notesSlide6.xml" Id="R953bc6a6e59c47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1400a9707e491b" /><Relationship Type="http://schemas.openxmlformats.org/officeDocument/2006/relationships/notesSlide" Target="/ppt/notesSlides/notesSlide7.xml" Id="R8ddc1baec8db44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28e8a13e0b4370" /><Relationship Type="http://schemas.openxmlformats.org/officeDocument/2006/relationships/notesSlide" Target="/ppt/notesSlides/notesSlide8.xml" Id="R97be366958b244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024DE-411A-49E7-9D67-53E29277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953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10500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ІЗ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EA1EA-C8A1-4D7B-BAFB-21EBFE1A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Розыгрыши под контролем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320BC-CEC1-44FA-817D-7D387F5F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Проверка платного участия, случайного выбора</a:t>
            </a:r>
          </a:p>
          <a:p xmlns:a="http://schemas.openxmlformats.org/drawingml/2006/main">
            <a:pPr>
              <a:buNone/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и указанных связей между материалами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7EAFA-D170-4508-ADAF-DA4B01D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TEMIR · SafeNet KZ · Трек 1 · MVP v1.7</a:t>
            </a:r>
          </a:p>
        </p:txBody>
      </p:sp>
    </p:spTree>
    <p:extLst>
      <p:ext uri="{BB962C8B-B14F-4D97-AF65-F5344CB8AC3E}">
        <p14:creationId xmlns:p14="http://schemas.microsoft.com/office/powerpoint/2010/main" val="15850951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3D743-3BA6-452C-8EF2-18215B9C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Контекст условий розыгрыша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83190-C953-41E4-93D9-DBA7ECBF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Публикация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7532E-EBD6-40CE-9F29-4243A3A5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«Разыгрываем смартфон»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8F4A0-1911-4D00-A2DB-E11596AF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Обязательная оплата входа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4FC0B-78A4-4298-8F86-40CAEF40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«Для участия купите слот за 3 000 ₸»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25BF9-AFC6-49C8-B577-90776CE7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Текст эфира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0123B-1EB8-4DF8-B5C2-9AE46A5C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«Победителя определит колесо фортуны»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8BF2F-AE18-41F8-A825-F8C735FC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Синтетический пример. Оплата доставки и цена приза имеют другую роль.</a:t>
            </a:r>
          </a:p>
        </p:txBody>
      </p:sp>
    </p:spTree>
    <p:extLst>
      <p:ext uri="{BB962C8B-B14F-4D97-AF65-F5344CB8AC3E}">
        <p14:creationId xmlns:p14="http://schemas.microsoft.com/office/powerpoint/2010/main" val="1981069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FD0E8-6248-47D3-8496-69E1EFA9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Проверка за один экран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39F7D-01E3-42FD-97F2-64E52D74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Текст или скриншот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D2F83-428D-4276-BFA5-E50CF75B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5857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Приз, обязательная оплата</a:t>
            </a:r>
          </a:p>
          <a:p xmlns:a="http://schemas.openxmlformats.org/drawingml/2006/main">
            <a: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и случайный выбор:</a:t>
            </a:r>
          </a:p>
          <a:p xmlns:a="http://schemas.openxmlformats.org/drawingml/2006/main">
            <a: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цитаты из ваших материалов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F9E15-1944-4F15-86E1-68293AB4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Недостающие и противоречивые</a:t>
            </a:r>
          </a:p>
          <a:p xmlns:a="http://schemas.openxmlformats.org/drawingml/2006/main">
            <a:pPr>
              <a:buNone/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условия требуют уточнения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996F1-B2E9-4B82-BDA1-AA87F6062C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cb920066c4de2"/>
          <a:stretch xmlns:a="http://schemas.openxmlformats.org/drawingml/2006/main"/>
        </p:blipFill>
        <p:spPr>
          <a:xfrm xmlns:a="http://schemas.openxmlformats.org/drawingml/2006/main" flipH="0" flipV="0">
            <a:off x="7781553" y="1143000"/>
            <a:ext cx="2486770" cy="5381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92E69-5BCD-47A1-BF35-E519494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Текст + OCR RU/KZ + предоставленная расшифровка эфира</a:t>
            </a:r>
          </a:p>
        </p:txBody>
      </p:sp>
    </p:spTree>
    <p:extLst>
      <p:ext uri="{BB962C8B-B14F-4D97-AF65-F5344CB8AC3E}">
        <p14:creationId xmlns:p14="http://schemas.microsoft.com/office/powerpoint/2010/main" val="1325387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3B845-930F-497B-9B4C-8F15357D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Ручная проверка и сеть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CACB4-398A-4F06-B9DD-FE221FAA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Проверка по источникам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9A1D7-767E-4F08-9B98-830585CB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Три признака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376C3-539D-4433-96A6-A2D9E142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Приз</a:t>
            </a:r>
          </a:p>
          <a:p xmlns:a="http://schemas.openxmlformats.org/drawingml/2006/main">
            <a: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Оплата входа</a:t>
            </a:r>
          </a:p>
          <a:p xmlns:a="http://schemas.openxmlformats.org/drawingml/2006/main">
            <a: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Случайный выбор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31158-C6A4-40CF-9A7E-BD4BE85E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Точная цитата и источник</a:t>
            </a:r>
          </a:p>
          <a:p xmlns:a="http://schemas.openxmlformats.org/drawingml/2006/main">
            <a:pPr>
              <a:buNone/>
              <a:defRPr sz="20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для каждого подтверждения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11B96-5678-4125-8404-029BEDEA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Связи между материалами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708B7-0834-451F-AF73-85CBA907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Аккаунты A · B ·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B6AF7-EA0E-41AF-AD07-655857F0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Серия по разным ID</a:t>
            </a:r>
          </a:p>
          <a:p xmlns:a="http://schemas.openxmlformats.org/drawingml/2006/main">
            <a:pPr>
              <a:buNone/>
              <a:defRPr sz="21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Кандидат по точной ссылке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67B8C-9ECD-4F21-84CC-A79B16F0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767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66CC"/>
                </a:solidFill>
                <a:latin typeface="Arial"/>
                <a:ea typeface="Arial"/>
                <a:cs typeface="Arial"/>
              </a:rPr>
              <a:t>Источник и основание</a:t>
            </a:r>
          </a:p>
          <a:p xmlns:a="http://schemas.openxmlformats.org/drawingml/2006/main">
            <a:pPr>
              <a:buNone/>
              <a:defRPr sz="2325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66CC"/>
                </a:solidFill>
                <a:latin typeface="Arial"/>
                <a:ea typeface="Arial"/>
                <a:cs typeface="Arial"/>
              </a:rPr>
              <a:t>для проверки связи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D63BF-105C-4A2A-8CEC-7126141A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Заметка оставляет дело в очереди. Завершение требует проверки трёх признаков.</a:t>
            </a:r>
          </a:p>
        </p:txBody>
      </p:sp>
    </p:spTree>
    <p:extLst>
      <p:ext uri="{BB962C8B-B14F-4D97-AF65-F5344CB8AC3E}">
        <p14:creationId xmlns:p14="http://schemas.microsoft.com/office/powerpoint/2010/main" val="9550089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450F0-51F3-4C7E-83D1-33C53DA9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Свежий слепой тест: 200 сценариев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A64FD-46C1-4231-BA4A-D534683CECC3}"/>
              </a:ext>
            </a:extLst>
          </p:cNvPr>
          <p:cNvGraphicFramePr/>
          <p:nvPr/>
        </p:nvGraphicFramePr>
        <p:xfrm>
          <a:off xmlns:a="http://schemas.openxmlformats.org/drawingml/2006/main" x="647700" y="1428750"/>
          <a:ext xmlns:a="http://schemas.openxmlformats.org/drawingml/2006/main" cx="108966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2476500"/>
                <a:gridCol w="3562350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Основание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Precision высокого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83,67%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41 / 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Recall высокого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51,25%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41 / 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FPR высокого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6,67%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8 / 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Совпадение трёх уровней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58%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116 / 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FPR очереди high + medium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27,5%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22 / 80 низких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ECAAD-61EA-4CF9-BE21-EA851414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95% ДИ precision: 70,96%-91,49%; recall: 40,49%-61,89%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077FE-781D-472D-8587-1C9832B8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На том же v5: v1.6 109/200, v1.7 116/200</a:t>
            </a:r>
          </a:p>
          <a:p xmlns:a="http://schemas.openxmlformats.org/drawingml/2006/main">
            <a:pPr>
              <a:buNone/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Исправлено 11, ухудшено 4. Ошибок v1.7: 84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5BB2A-D4D1-480A-BEE8-6CE74E32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Отдельный AI-автор. Синтетический корпус; реальный поток ещё не проверен.</a:t>
            </a:r>
          </a:p>
        </p:txBody>
      </p:sp>
    </p:spTree>
    <p:extLst>
      <p:ext uri="{BB962C8B-B14F-4D97-AF65-F5344CB8AC3E}">
        <p14:creationId xmlns:p14="http://schemas.microsoft.com/office/powerpoint/2010/main" val="152709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B5351-8A57-428A-BE81-AAFFE352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Локальный анализ и 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F08A5-7857-4E08-8028-BC77AB72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Пакетная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888B6-213E-43AA-98D3-6590A6EB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Backup до 50 МБ</a:t>
            </a:r>
          </a:p>
          <a:p xmlns:a="http://schemas.openxmlformats.org/drawingml/2006/main">
            <a:pPr>
              <a:buNone/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Восстановление пакетами с отменой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84C2C-318A-4B9B-A629-82C9F19C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Контроль материалов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FE687-8C6B-4820-A9C4-6170A473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6225"/>
            <a:ext cx="1076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Черновики ввода и исходные материалы</a:t>
            </a:r>
          </a:p>
          <a:p xmlns:a="http://schemas.openxmlformats.org/drawingml/2006/main">
            <a:pPr>
              <a:buNone/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Подтверждение с точными цитатами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A53D3-2019-44C0-AC96-3A97B9F9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Разные ID не суммируются. Исходное дело сохраняется при разделении.</a:t>
            </a:r>
          </a:p>
        </p:txBody>
      </p:sp>
    </p:spTree>
    <p:extLst>
      <p:ext uri="{BB962C8B-B14F-4D97-AF65-F5344CB8AC3E}">
        <p14:creationId xmlns:p14="http://schemas.microsoft.com/office/powerpoint/2010/main" val="582460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BF351-15C9-4A31-8CF9-BBF89EFB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План пилота на четыре недели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921D6-4978-4D23-A756-8ACD66E83005}"/>
              </a:ext>
            </a:extLst>
          </p:cNvPr>
          <p:cNvGraphicFramePr/>
          <p:nvPr/>
        </p:nvGraphicFramePr>
        <p:xfrm>
          <a:off xmlns:a="http://schemas.openxmlformats.org/drawingml/2006/main" x="647700" y="1476375"/>
          <a:ext xmlns:a="http://schemas.openxmlformats.org/drawingml/2006/main" cx="108966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372350"/>
              </a:tblGrid>
              <a:tr h="6629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Проверяемый результат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Неделя 1 · данные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Два специалиста, разрешённый тест ≥200 кампаний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Неделя 2 · сервер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Импорт, очередь, БД, роли и журнал решений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Неделя 3 · качество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RU/KZ, ошибки OCR, всплески и восстановление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Неделя 4 · пилот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Работа аналитиков и отчёт для решения о расширении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3C115-C49E-4C5B-B51E-1389A1D5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Цели: precision ≥90% · recall ≥85% · strict FPR ≤5%</a:t>
            </a:r>
          </a:p>
          <a:p xmlns:a="http://schemas.openxmlformats.org/drawingml/2006/main">
            <a:pPr>
              <a:buNone/>
              <a:defRPr sz="20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Queue FPR ≤15% на новом реальном тесте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B99D4-2303-4E38-B3B1-14639106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На реальных публикациях цели ещё не подтверждены. Автоматические санкции не предусмотрены.</a:t>
            </a:r>
          </a:p>
        </p:txBody>
      </p:sp>
    </p:spTree>
    <p:extLst>
      <p:ext uri="{BB962C8B-B14F-4D97-AF65-F5344CB8AC3E}">
        <p14:creationId xmlns:p14="http://schemas.microsoft.com/office/powerpoint/2010/main" val="1040509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EEE93-5B54-4081-9152-473D3C20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Демонстрация и следующий этап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20797-E5B9-498D-8E46-22925478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Платный и бесплатный пример</a:t>
            </a:r>
          </a:p>
          <a:p xmlns:a="http://schemas.openxmlformats.org/drawingml/2006/main">
            <a:pPr>
              <a:buNone/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Ручные цитаты и очередь аналитика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1C98E-F388-43DF-96D2-A2D205CD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Тест v5: 84 ошибок, все доступны для проверки</a:t>
            </a:r>
          </a:p>
          <a:p xmlns:a="http://schemas.openxmlformats.org/drawingml/2006/main">
            <a:pPr>
              <a:buNone/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Протокол экспертного пилота и исходники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ABEA1-FED2-4DD8-BFA1-01D2368F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ІЗ выявляет признаки. Юридическую оценку выполняет специалист.</a:t>
            </a:r>
          </a:p>
        </p:txBody>
      </p:sp>
    </p:spTree>
    <p:extLst>
      <p:ext uri="{BB962C8B-B14F-4D97-AF65-F5344CB8AC3E}">
        <p14:creationId xmlns:p14="http://schemas.microsoft.com/office/powerpoint/2010/main" val="853363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2026-10-20T18:12:15.8700000Z</dcterms:created>
  <dcterms:modified xsi:type="dcterms:W3CDTF">2026-10-20T18:12:15.8700000Z</dcterms:modified>
</coreProperties>
</file>