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21ddeb3f74d62" /><Relationship Type="http://schemas.openxmlformats.org/officeDocument/2006/relationships/extended-properties" Target="/docProps/app.xml" Id="R055ad2a8ee1c4e9c" /><Relationship Type="http://schemas.openxmlformats.org/officeDocument/2006/relationships/officeDocument" Target="/ppt/presentation.xml" Id="Re46b0b1e095b43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6b8af06f84473c"/>
  </p:sldMasterIdLst>
  <p:notesMasterIdLst>
    <p:notesMasterId xmlns:r="http://schemas.openxmlformats.org/officeDocument/2006/relationships" r:id="R4ba506d30c5a4e88"/>
  </p:notesMasterIdLst>
  <p:sldIdLst>
    <p:sldId xmlns:r="http://schemas.openxmlformats.org/officeDocument/2006/relationships" id="256" r:id="R0e48d71e14684ff8"/>
    <p:sldId xmlns:r="http://schemas.openxmlformats.org/officeDocument/2006/relationships" id="257" r:id="R06c0018ebf284b0d"/>
    <p:sldId xmlns:r="http://schemas.openxmlformats.org/officeDocument/2006/relationships" id="258" r:id="R343ad8254cc242e1"/>
    <p:sldId xmlns:r="http://schemas.openxmlformats.org/officeDocument/2006/relationships" id="259" r:id="R21a4899e8a184471"/>
    <p:sldId xmlns:r="http://schemas.openxmlformats.org/officeDocument/2006/relationships" id="260" r:id="R7d1a797b8e9c493d"/>
    <p:sldId xmlns:r="http://schemas.openxmlformats.org/officeDocument/2006/relationships" id="261" r:id="R11be9bed0f894795"/>
    <p:sldId xmlns:r="http://schemas.openxmlformats.org/officeDocument/2006/relationships" id="262" r:id="Rdb1ef1e1fa404743"/>
    <p:sldId xmlns:r="http://schemas.openxmlformats.org/officeDocument/2006/relationships" id="263" r:id="Rf41f8a7f3ac74b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78cc9ddda94911" /><Relationship Type="http://schemas.openxmlformats.org/officeDocument/2006/relationships/slideMaster" Target="/ppt/slideMasters/slideMaster1.xml" Id="Ra16b8af06f84473c" /><Relationship Type="http://schemas.openxmlformats.org/officeDocument/2006/relationships/notesMaster" Target="/ppt/notesMasters/notesMaster1.xml" Id="R4ba506d30c5a4e88" /><Relationship Type="http://schemas.openxmlformats.org/officeDocument/2006/relationships/presProps" Target="/ppt/presProps.xml" Id="Re8b3f6e54d994af4" /><Relationship Type="http://schemas.openxmlformats.org/officeDocument/2006/relationships/tableStyles" Target="/ppt/tableStyles.xml" Id="Rb033a8b6ef554ba0" /><Relationship Type="http://schemas.openxmlformats.org/officeDocument/2006/relationships/slide" Target="/ppt/slides/slide1.xml" Id="R0e48d71e14684ff8" /><Relationship Type="http://schemas.openxmlformats.org/officeDocument/2006/relationships/slide" Target="/ppt/slides/slide2.xml" Id="R06c0018ebf284b0d" /><Relationship Type="http://schemas.openxmlformats.org/officeDocument/2006/relationships/slide" Target="/ppt/slides/slide3.xml" Id="R343ad8254cc242e1" /><Relationship Type="http://schemas.openxmlformats.org/officeDocument/2006/relationships/slide" Target="/ppt/slides/slide4.xml" Id="R21a4899e8a184471" /><Relationship Type="http://schemas.openxmlformats.org/officeDocument/2006/relationships/slide" Target="/ppt/slides/slide5.xml" Id="R7d1a797b8e9c493d" /><Relationship Type="http://schemas.openxmlformats.org/officeDocument/2006/relationships/slide" Target="/ppt/slides/slide6.xml" Id="R11be9bed0f894795" /><Relationship Type="http://schemas.openxmlformats.org/officeDocument/2006/relationships/slide" Target="/ppt/slides/slide7.xml" Id="Rdb1ef1e1fa404743" /><Relationship Type="http://schemas.openxmlformats.org/officeDocument/2006/relationships/slide" Target="/ppt/slides/slide8.xml" Id="Rf41f8a7f3ac74b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e93c9810854f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2b6c149a04852" /><Relationship Type="http://schemas.openxmlformats.org/officeDocument/2006/relationships/notesMaster" Target="/ppt/notesMasters/notesMaster1.xml" Id="R21f5df41764d49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b32d5d38e4417" /><Relationship Type="http://schemas.openxmlformats.org/officeDocument/2006/relationships/notesMaster" Target="/ppt/notesMasters/notesMaster1.xml" Id="Rf5fd58f96de246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b59cde4b79448f" /><Relationship Type="http://schemas.openxmlformats.org/officeDocument/2006/relationships/notesMaster" Target="/ppt/notesMasters/notesMaster1.xml" Id="Rfb211661ad4d4f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8fc9d66eb24f5b" /><Relationship Type="http://schemas.openxmlformats.org/officeDocument/2006/relationships/notesMaster" Target="/ppt/notesMasters/notesMaster1.xml" Id="Rcb6f9273827f46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858b66b1cf4860" /><Relationship Type="http://schemas.openxmlformats.org/officeDocument/2006/relationships/notesMaster" Target="/ppt/notesMasters/notesMaster1.xml" Id="R8b5a2cd98f1d43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8a6df7490f4599" /><Relationship Type="http://schemas.openxmlformats.org/officeDocument/2006/relationships/notesMaster" Target="/ppt/notesMasters/notesMaster1.xml" Id="R5ba0353c4a494f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f56326524c4d4f" /><Relationship Type="http://schemas.openxmlformats.org/officeDocument/2006/relationships/notesMaster" Target="/ppt/notesMasters/notesMaster1.xml" Id="R4fe1f223aa4242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5ed2d4a0a841a9" /><Relationship Type="http://schemas.openxmlformats.org/officeDocument/2006/relationships/notesMaster" Target="/ppt/notesMasters/notesMaster1.xml" Id="R2956333904da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0:00-0:20. Мы TEMIR. ІЗ выделяет приз, обязательную оплату и случайный выбор с исходными цитатами. Это приоритет проверки, юридическую оценку даёт специалист. Бриф SafeNet KZ, страницы 1-4. Название команды подтверждено, состав и контакт ещё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0:20-0:55. Условия могут быть в разных материалах одной кампании. Разные исходные ID нельзя суммировать. В v1.8 добавлены формы глаголов оплаты, связь обязательной покупки с допуском в соседних частях предложения, ограниченные семейства казахского транслита. Нормализованный текст не подменяет исходные цитаты. Доставку после победы, цену приза и случайный порядок рассматриваем отдельно. Источники: dist/engine.mjs, ENGINE_V18.md.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0:55-1:40. Текст и предоставленные скриншоты обрабатываются локально. По URL публикации не скачиваются. Показать платный и бесплатный синтетический пример. Низкий приоритет не гарантирует безопасность. OCR не переснимали в этой версии, в пакете сохранены контролируемые пробы предыдущего этапа. Источники: dist/consumer.mjs, evaluation/ocr-stress-report.json.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1:40-2:30. Аналитик проверяет три признака с точными цитатами, сохраняет отдельный приоритет и комментарий. Изменение версии делает прежнюю запись устаревшей. Можно по очереди исключить источник только из расчёта: видны исчезнувшие признаки. Все оригиналы сохраняются; удаление противоречия не доказывает высокий риск. Сеть показывает основание связи без изменения приоритета. Источники: source-sensitivity.mjs, structured-review.mjs, network.mjs.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2:30-3:25. На прежнем слепом v5 движок v1.7 находил 41 из 80 high, давал 8 ложных high и 116 из 200 трёхуровневых совпадений. После открытия ошибок v1.8 на том же уже изученном наборе находит 68 из 80, даёт 0 ложных high и 156 из 200 совпадений. Исправлен 41 ответ, ухудшен 1. Пропущено 12 high, один из них получил low. Все 44 ошибки опубликованы. Это результат разработки, а не новый слепой тест. Ноль ложных high на изученных примерах не означает отсутствие реальных ошибок. Лишние проверки low в очереди 20 из 80. Корпус и метки созданы AI, специалистов и настоящих соцпостов нет. Источники: evaluation/development-v18-report.json, evaluation/release-v1.7-report.json, ENGINE_V18.md.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3:25-3:55. Backup до 50 МБ и 2000 дел. Восстановление пакетами с отменой. Повреждённый снимок не затирается. Исходные материалы, текстовые черновики и ручные решения сохраняются локально. Сервер и общий доступ не реализованы. Источники: backup.mjs, local-state.mjs, METHODOLOGY.md.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3:55-4:40. Для нового теста нужны разрешённые реальные материалы, независимые специалисты и отделение теста до следующей доработки. Затем пилот аналитиков, сервер, роли и нагрузка. Цели P&gt;=90%, R&gt;=85%, strictFPR&lt;=5%, queueFPR&lt;=15% на реальном новом тесте пока не подтверждены. User сообщил отсутствие корпуса и проверяющего. Источники: ROADMAP.md, PILOT_PROTOCOL.md, TARGET_98.md.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4:40-5:00. Открыты MVP, исходники, обе оценки с разным статусом, все ошибки и протокол пилота. Следующий шаг требует данных и специалистов. Балл и допуск определяет жюри, 98/100 не обещаем. Источники: dist/submission/index.html, ENGINE_V18.md. Демо: https://iz-safenet-kz.garden-gleam-9738.chatgpt.site/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b6d87601f4d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8e70b2b2447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dfd15bf7c4d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89233d1684b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d678cfd4644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7cc54380042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ACAEFF-E123-4A79-80C5-9C7CFEFDD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17B504-8199-4353-8A33-D2C9C623E1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B7ABD3-AF47-4F20-9BD8-D91ED9487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8239A0-FA5E-420B-B866-59EE62682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B04BD8-BC7A-40D1-B15E-3BB3A8883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BE9B50-DCBD-4FFA-A2C2-49C20272A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FA9ACD-17E8-4ABD-AD53-15F3C2952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23F672-0385-43A3-AEDC-053D2A7450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9C1CBF-114B-4F31-B658-3538B0458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BD5AA3-920E-4C84-AD15-CEE9A94280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e5403afc174031" /><Relationship Type="http://schemas.openxmlformats.org/officeDocument/2006/relationships/slideLayout" Target="/ppt/slideLayouts/slideLayout1.xml" Id="R6c7bd0611c174f0d" /><Relationship Type="http://schemas.openxmlformats.org/officeDocument/2006/relationships/slideLayout" Target="/ppt/slideLayouts/slideLayout2.xml" Id="R5796636671d34fc3" /><Relationship Type="http://schemas.openxmlformats.org/officeDocument/2006/relationships/slideLayout" Target="/ppt/slideLayouts/slideLayout3.xml" Id="Rc570d672a6694991" /><Relationship Type="http://schemas.openxmlformats.org/officeDocument/2006/relationships/slideLayout" Target="/ppt/slideLayouts/slideLayout4.xml" Id="Rdd9be10b3c39439e" /><Relationship Type="http://schemas.openxmlformats.org/officeDocument/2006/relationships/slideLayout" Target="/ppt/slideLayouts/slideLayout5.xml" Id="R5503b2c0325044fd" /><Relationship Type="http://schemas.openxmlformats.org/officeDocument/2006/relationships/slideLayout" Target="/ppt/slideLayouts/slideLayout6.xml" Id="R988dcdf1e02e4c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7bd0611c174f0d"/>
    <p:sldLayoutId xmlns:r="http://schemas.openxmlformats.org/officeDocument/2006/relationships" id="2147483650" r:id="R5796636671d34fc3"/>
    <p:sldLayoutId xmlns:r="http://schemas.openxmlformats.org/officeDocument/2006/relationships" id="2147483651" r:id="Rc570d672a6694991"/>
    <p:sldLayoutId xmlns:r="http://schemas.openxmlformats.org/officeDocument/2006/relationships" id="2147483652" r:id="Rdd9be10b3c39439e"/>
    <p:sldLayoutId xmlns:r="http://schemas.openxmlformats.org/officeDocument/2006/relationships" id="2147483653" r:id="R5503b2c0325044fd"/>
    <p:sldLayoutId xmlns:r="http://schemas.openxmlformats.org/officeDocument/2006/relationships" id="2147483654" r:id="R988dcdf1e02e4c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30e3a1a7346dc" /><Relationship Type="http://schemas.openxmlformats.org/officeDocument/2006/relationships/notesSlide" Target="/ppt/notesSlides/notesSlide1.xml" Id="R6591f57e3b08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0bed977c743b2" /><Relationship Type="http://schemas.openxmlformats.org/officeDocument/2006/relationships/notesSlide" Target="/ppt/notesSlides/notesSlide2.xml" Id="Re829878889184b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a17c1bf3d4c1e" /><Relationship Type="http://schemas.openxmlformats.org/officeDocument/2006/relationships/image" Target="/ppt/media/image.jpeg" Id="R74ce8950868f4b9d" /><Relationship Type="http://schemas.openxmlformats.org/officeDocument/2006/relationships/notesSlide" Target="/ppt/notesSlides/notesSlide3.xml" Id="Rb17e678ba7654e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16a3e611f04beb" /><Relationship Type="http://schemas.openxmlformats.org/officeDocument/2006/relationships/notesSlide" Target="/ppt/notesSlides/notesSlide4.xml" Id="R57ce6383bf8943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f1c21abbe458b" /><Relationship Type="http://schemas.openxmlformats.org/officeDocument/2006/relationships/notesSlide" Target="/ppt/notesSlides/notesSlide5.xml" Id="R47208fe4368e41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420a6f53e45aa" /><Relationship Type="http://schemas.openxmlformats.org/officeDocument/2006/relationships/notesSlide" Target="/ppt/notesSlides/notesSlide6.xml" Id="Rc121d98f5c4846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25187f93c4722" /><Relationship Type="http://schemas.openxmlformats.org/officeDocument/2006/relationships/notesSlide" Target="/ppt/notesSlides/notesSlide7.xml" Id="R458b9d5d928743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07d18e99584c42" /><Relationship Type="http://schemas.openxmlformats.org/officeDocument/2006/relationships/notesSlide" Target="/ppt/notesSlides/notesSlide8.xml" Id="Re680b61ee1914f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024DE-411A-49E7-9D67-53E2927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953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05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ІЗ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EA1EA-C8A1-4D7B-BAFB-21EBFE1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Розыгрыши под контролем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320BC-CEC1-44FA-817D-7D387F5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Проверка платного участия, случайного выбора</a:t>
            </a:r>
          </a:p>
          <a:p xmlns:a="http://schemas.openxmlformats.org/drawingml/2006/main">
            <a: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и указанных связей между материалами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7EAFA-D170-4508-ADAF-DA4B01D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TEMIR · SafeNet KZ · Трек 1 · MVP v1.8</a:t>
            </a:r>
          </a:p>
        </p:txBody>
      </p:sp>
    </p:spTree>
    <p:extLst>
      <p:ext uri="{BB962C8B-B14F-4D97-AF65-F5344CB8AC3E}">
        <p14:creationId xmlns:p14="http://schemas.microsoft.com/office/powerpoint/2010/main" val="1585095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D743-3BA6-452C-8EF2-18215B9C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Контекст условий розыгрыша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83190-C953-41E4-93D9-DBA7ECB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7532E-EBD6-40CE-9F29-4243A3A5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«Разыгрываем смартфон»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8F4A0-1911-4D00-A2DB-E11596AF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Обязательная оплата входа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4FC0B-78A4-4298-8F86-40CAEF4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«Для участия купите слот за 3 000 ₸»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5BF9-AFC6-49C8-B577-90776CE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Текст эфира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0123B-1EB8-4DF8-B5C2-9AE46A5C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«Победителя определит колесо фортуны»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8BF2F-AE18-41F8-A825-F8C735FC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Синтетический пример. Оплата доставки и цена приза имеют другую роль.</a:t>
            </a:r>
          </a:p>
        </p:txBody>
      </p:sp>
    </p:spTree>
    <p:extLst>
      <p:ext uri="{BB962C8B-B14F-4D97-AF65-F5344CB8AC3E}">
        <p14:creationId xmlns:p14="http://schemas.microsoft.com/office/powerpoint/2010/main" val="1981069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FD0E8-6248-47D3-8496-69E1EFA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Проверка за один экран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39F7D-01E3-42FD-97F2-64E52D74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Текст или скриншот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D2F83-428D-4276-BFA5-E50CF75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5857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Приз, обязательная оплата</a:t>
            </a:r>
          </a:p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и случайный выбор:</a:t>
            </a:r>
          </a:p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цитаты из ваших материалов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F9E15-1944-4F15-86E1-68293AB4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Недостающие и противоречивые</a:t>
            </a:r>
          </a:p>
          <a:p xmlns:a="http://schemas.openxmlformats.org/drawingml/2006/main">
            <a: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условия требуют уточнения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9B52F-E66E-4F54-89CC-0A29A092B1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e8950868f4b9d"/>
          <a:stretch xmlns:a="http://schemas.openxmlformats.org/drawingml/2006/main"/>
        </p:blipFill>
        <p:spPr>
          <a:xfrm xmlns:a="http://schemas.openxmlformats.org/drawingml/2006/main" flipH="0" flipV="0">
            <a:off x="7781553" y="1143000"/>
            <a:ext cx="2486770" cy="5381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92E69-5BCD-47A1-BF35-E519494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Текст + OCR RU/KZ + предоставленная расшифровка эфира</a:t>
            </a:r>
          </a:p>
        </p:txBody>
      </p:sp>
    </p:spTree>
    <p:extLst>
      <p:ext uri="{BB962C8B-B14F-4D97-AF65-F5344CB8AC3E}">
        <p14:creationId xmlns:p14="http://schemas.microsoft.com/office/powerpoint/2010/main" val="132538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3B845-930F-497B-9B4C-8F15357D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Ручная проверка и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CACB4-398A-4F06-B9DD-FE221FAA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Проверка по источникам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9A1D7-767E-4F08-9B98-830585CB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Три признака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376C3-539D-4433-96A6-A2D9E14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Приз</a:t>
            </a:r>
          </a:p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Оплата входа</a:t>
            </a:r>
          </a:p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Случайный выбор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31158-C6A4-40CF-9A7E-BD4BE85E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Точная цитата и источник</a:t>
            </a:r>
          </a:p>
          <a:p xmlns:a="http://schemas.openxmlformats.org/drawingml/2006/main">
            <a:pPr>
              <a:buNone/>
              <a:defRPr sz="20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для каждого подтверждения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1B96-5678-4125-8404-029BEDEA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Связи между материалами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708B7-0834-451F-AF73-85CBA90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Аккаунты A · B ·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B6AF7-EA0E-41AF-AD07-655857F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Серия по разным ID</a:t>
            </a:r>
          </a:p>
          <a:p xmlns:a="http://schemas.openxmlformats.org/drawingml/2006/main">
            <a:pPr>
              <a:buNone/>
              <a:defRPr sz="21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Кандидат по точной ссылке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67B8C-9ECD-4F21-84CC-A79B16F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767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Источник и основание</a:t>
            </a:r>
          </a:p>
          <a:p xmlns:a="http://schemas.openxmlformats.org/drawingml/2006/main">
            <a:pPr>
              <a:buNone/>
              <a:defRPr sz="2325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для проверки связи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D63BF-105C-4A2A-8CEC-7126141A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Заметка оставляет дело в очереди. Завершение требует проверки трёх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955008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450F0-51F3-4C7E-83D1-33C53DA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Качество: слепой тест и доработка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E623D-113D-44F9-9235-AA43C9B082E8}"/>
              </a:ext>
            </a:extLst>
          </p:cNvPr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2476500"/>
                <a:gridCol w="35623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v1.7 · слепой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v1.8 · открытый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Precision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83,67%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Recall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51,25%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FPR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6,67%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Совпадение трёх уровней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116 / 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156 / 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FPR очереди high +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27,5%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ECAAD-61EA-4CF9-BE21-EA85141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v1.8 доработана на v5. Новая независимая оценка ещё не проведена.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077FE-781D-472D-8587-1C9832B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Тот же v5: найдено high 41/80 → 68/80; пропущено 12</a:t>
            </a:r>
          </a:p>
          <a:p xmlns:a="http://schemas.openxmlformats.org/drawingml/2006/main">
            <a: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Исправлен 41 ответ, ухудшен 1; ошибок v1.8: 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5BB2A-D4D1-480A-BEE8-6CE74E32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Синтетика AI; реальные публикации и человеческая разметка отсутствуют.</a:t>
            </a:r>
          </a:p>
        </p:txBody>
      </p:sp>
    </p:spTree>
    <p:extLst>
      <p:ext uri="{BB962C8B-B14F-4D97-AF65-F5344CB8AC3E}">
        <p14:creationId xmlns:p14="http://schemas.microsoft.com/office/powerpoint/2010/main" val="152709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B5351-8A57-428A-BE81-AAFFE35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Локальный анализ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F08A5-7857-4E08-8028-BC77AB72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Пакетная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888B6-213E-43AA-98D3-6590A6EB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Backup до 50 МБ</a:t>
            </a:r>
          </a:p>
          <a:p xmlns:a="http://schemas.openxmlformats.org/drawingml/2006/main">
            <a: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Восстановление пакетами с отменой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84C2C-318A-4B9B-A629-82C9F19C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Контроль материалов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FE687-8C6B-4820-A9C4-6170A473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Черновики ввода и исходные материалы</a:t>
            </a:r>
          </a:p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Подтверждение с точными цитатами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A53D3-2019-44C0-AC96-3A97B9F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Разные ID не суммируются. Исходное дело сохраняется при разделении.</a:t>
            </a:r>
          </a:p>
        </p:txBody>
      </p:sp>
    </p:spTree>
    <p:extLst>
      <p:ext uri="{BB962C8B-B14F-4D97-AF65-F5344CB8AC3E}">
        <p14:creationId xmlns:p14="http://schemas.microsoft.com/office/powerpoint/2010/main" val="582460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BF351-15C9-4A31-8CF9-BBF89EFB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План пилота на четыре недели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3CB31-86A4-4F39-9ED7-D12DC8A5461B}"/>
              </a:ext>
            </a:extLst>
          </p:cNvPr>
          <p:cNvGraphicFramePr/>
          <p:nvPr/>
        </p:nvGraphicFramePr>
        <p:xfrm>
          <a:off xmlns:a="http://schemas.openxmlformats.org/drawingml/2006/main" x="647700" y="1476375"/>
          <a:ext xmlns:a="http://schemas.openxmlformats.org/drawingml/2006/main" cx="108966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372350"/>
              </a:tblGrid>
              <a:tr h="6629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Проверяемый результат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1 · данные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Два специалиста, разрешённый тест ≥200 кампаний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2 · 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Импорт, очередь, БД, роли и журнал решений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3 · качество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RU/KZ, ошибки OCR, всплески и восстановление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4 · пилот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Работа аналитиков и отчёт для решения о расширении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3C115-C49E-4C5B-B51E-1389A1D5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Цели: precision ≥90% · recall ≥85% · strict FPR ≤5%</a:t>
            </a:r>
          </a:p>
          <a:p xmlns:a="http://schemas.openxmlformats.org/drawingml/2006/main">
            <a:pPr>
              <a:buNone/>
              <a:defRPr sz="20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Queue FPR ≤15% на новом реальном тесте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B99D4-2303-4E38-B3B1-14639106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На реальных публикациях цели ещё не подтверждены. Автоматические санкции не предусмотрены.</a:t>
            </a:r>
          </a:p>
        </p:txBody>
      </p:sp>
    </p:spTree>
    <p:extLst>
      <p:ext uri="{BB962C8B-B14F-4D97-AF65-F5344CB8AC3E}">
        <p14:creationId xmlns:p14="http://schemas.microsoft.com/office/powerpoint/2010/main" val="1040509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EEE93-5B54-4081-9152-473D3C2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Демонстрация и следующий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20797-E5B9-498D-8E46-22925478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Платный и бесплатный пример</a:t>
            </a:r>
          </a:p>
          <a:p xmlns:a="http://schemas.openxmlformats.org/drawingml/2006/main">
            <a: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Ручные цитаты и очередь аналитика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1C98E-F388-43DF-96D2-A2D205CD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v1.8 на открытом v5: 44 ошибки, все доступны</a:t>
            </a:r>
          </a:p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Протокол экспертного пилота и исходники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ABEA1-FED2-4DD8-BFA1-01D2368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ІЗ выявляет признаки. Юридическую оценку выполняет специалист.</a:t>
            </a:r>
          </a:p>
        </p:txBody>
      </p:sp>
    </p:spTree>
    <p:extLst>
      <p:ext uri="{BB962C8B-B14F-4D97-AF65-F5344CB8AC3E}">
        <p14:creationId xmlns:p14="http://schemas.microsoft.com/office/powerpoint/2010/main" val="853363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2026-10-20T19:25:49.5240000Z</dcterms:created>
  <dcterms:modified xsi:type="dcterms:W3CDTF">2026-10-20T19:25:49.5240000Z</dcterms:modified>
</coreProperties>
</file>