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13c8d2db984ad6" /><Relationship Type="http://schemas.openxmlformats.org/officeDocument/2006/relationships/extended-properties" Target="/docProps/app.xml" Id="R21b734dc5b084179" /><Relationship Type="http://schemas.openxmlformats.org/officeDocument/2006/relationships/officeDocument" Target="/ppt/presentation.xml" Id="R61db4c3d74524c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347e1d4f2447a7"/>
  </p:sldMasterIdLst>
  <p:notesMasterIdLst>
    <p:notesMasterId xmlns:r="http://schemas.openxmlformats.org/officeDocument/2006/relationships" r:id="Rdfcb28b418a8493c"/>
  </p:notesMasterIdLst>
  <p:sldIdLst>
    <p:sldId xmlns:r="http://schemas.openxmlformats.org/officeDocument/2006/relationships" id="256" r:id="R0c874eaa1a5f450e"/>
    <p:sldId xmlns:r="http://schemas.openxmlformats.org/officeDocument/2006/relationships" id="257" r:id="Rfaf02738b330465a"/>
    <p:sldId xmlns:r="http://schemas.openxmlformats.org/officeDocument/2006/relationships" id="258" r:id="R898cb49b0333461e"/>
    <p:sldId xmlns:r="http://schemas.openxmlformats.org/officeDocument/2006/relationships" id="259" r:id="R788166ec87c84cf5"/>
    <p:sldId xmlns:r="http://schemas.openxmlformats.org/officeDocument/2006/relationships" id="260" r:id="Ra7a31e783e4243cf"/>
    <p:sldId xmlns:r="http://schemas.openxmlformats.org/officeDocument/2006/relationships" id="261" r:id="R996cd0dd6b2a4b45"/>
    <p:sldId xmlns:r="http://schemas.openxmlformats.org/officeDocument/2006/relationships" id="262" r:id="R04cf515fd83a4621"/>
    <p:sldId xmlns:r="http://schemas.openxmlformats.org/officeDocument/2006/relationships" id="263" r:id="R27d4e988a7e14b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5584c600e042f9" /><Relationship Type="http://schemas.openxmlformats.org/officeDocument/2006/relationships/slideMaster" Target="/ppt/slideMasters/slideMaster1.xml" Id="Rac347e1d4f2447a7" /><Relationship Type="http://schemas.openxmlformats.org/officeDocument/2006/relationships/notesMaster" Target="/ppt/notesMasters/notesMaster1.xml" Id="Rdfcb28b418a8493c" /><Relationship Type="http://schemas.openxmlformats.org/officeDocument/2006/relationships/presProps" Target="/ppt/presProps.xml" Id="Rd2db9bcfd5244746" /><Relationship Type="http://schemas.openxmlformats.org/officeDocument/2006/relationships/tableStyles" Target="/ppt/tableStyles.xml" Id="Rb6c7786f5dae4681" /><Relationship Type="http://schemas.openxmlformats.org/officeDocument/2006/relationships/slide" Target="/ppt/slides/slide1.xml" Id="R0c874eaa1a5f450e" /><Relationship Type="http://schemas.openxmlformats.org/officeDocument/2006/relationships/slide" Target="/ppt/slides/slide2.xml" Id="Rfaf02738b330465a" /><Relationship Type="http://schemas.openxmlformats.org/officeDocument/2006/relationships/slide" Target="/ppt/slides/slide3.xml" Id="R898cb49b0333461e" /><Relationship Type="http://schemas.openxmlformats.org/officeDocument/2006/relationships/slide" Target="/ppt/slides/slide4.xml" Id="R788166ec87c84cf5" /><Relationship Type="http://schemas.openxmlformats.org/officeDocument/2006/relationships/slide" Target="/ppt/slides/slide5.xml" Id="Ra7a31e783e4243cf" /><Relationship Type="http://schemas.openxmlformats.org/officeDocument/2006/relationships/slide" Target="/ppt/slides/slide6.xml" Id="R996cd0dd6b2a4b45" /><Relationship Type="http://schemas.openxmlformats.org/officeDocument/2006/relationships/slide" Target="/ppt/slides/slide7.xml" Id="R04cf515fd83a4621" /><Relationship Type="http://schemas.openxmlformats.org/officeDocument/2006/relationships/slide" Target="/ppt/slides/slide8.xml" Id="R27d4e988a7e14b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030ce6d88d4f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83aeb29486446b" /><Relationship Type="http://schemas.openxmlformats.org/officeDocument/2006/relationships/notesMaster" Target="/ppt/notesMasters/notesMaster1.xml" Id="R19c528e7c92b43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dd03c10cac4d25" /><Relationship Type="http://schemas.openxmlformats.org/officeDocument/2006/relationships/notesMaster" Target="/ppt/notesMasters/notesMaster1.xml" Id="R5cf45b4b1b3e45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10e09c97394dc2" /><Relationship Type="http://schemas.openxmlformats.org/officeDocument/2006/relationships/notesMaster" Target="/ppt/notesMasters/notesMaster1.xml" Id="Rffd8b1cd904e42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ab8a6388814fe9" /><Relationship Type="http://schemas.openxmlformats.org/officeDocument/2006/relationships/notesMaster" Target="/ppt/notesMasters/notesMaster1.xml" Id="R6cc5e129017a4c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264bc9087f4ed4" /><Relationship Type="http://schemas.openxmlformats.org/officeDocument/2006/relationships/notesMaster" Target="/ppt/notesMasters/notesMaster1.xml" Id="R8597871faa844a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1fd834d4ff4e1f" /><Relationship Type="http://schemas.openxmlformats.org/officeDocument/2006/relationships/notesMaster" Target="/ppt/notesMasters/notesMaster1.xml" Id="R15be34f5796945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ca531d665e4e9d" /><Relationship Type="http://schemas.openxmlformats.org/officeDocument/2006/relationships/notesMaster" Target="/ppt/notesMasters/notesMaster1.xml" Id="R2e24ebf9f6c049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4dc5ee041c4768" /><Relationship Type="http://schemas.openxmlformats.org/officeDocument/2006/relationships/notesMaster" Target="/ppt/notesMasters/notesMaster1.xml" Id="R6b38beecf39549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0:00-0:20. ІЗ собирает условия одного розыгрыша и выделяет признаки платного участия с исходными цитатами. Автоматический приоритет помогает начать проверку. Аналитик отдельно подтверждает каждое условие; правовую оценку даёт специалист. Источник: предоставленный бриф SafeNet_KZ_Hackathon, страницы 1-4. Команда TEMIR; состав и контакт требуют подтверждения участниками.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0:20-0:55. Приз, оплата и выбор победителя могут находиться в разных материалах. В примере их связывает явный ID кампании. В v1.6 правила разбирают роль фразы, отрицание, неопределённость и этап выбора. Обязательный платёж именно за допуск отличается от доставки после победы. Предварительная жеребьёвка отличается от выбора итогового победителя. Это словарные и контекстные эвристики, не обученная языковая модель; ошибки остаются. Источники: dist/engine.mjs, METHODOLOGY.md, dist/network-demo.mjs.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0:55-1:40. Пользователь вставляет текст, предоставленную расшифровку эфира или скриншот. OCR русского и казахского текста работает локально. Результат показывает найденные фразы, недостающие условия и противоречия. Открываем платный пример и сравниваем с бесплатным. Низкий приоритет не гарантирует безопасность. На скриншоте реальный интерфейс MVP с синтетическими условиями. Источники: dist/app.mjs, dist/consumer.mjs, evaluation/ocr-stress-report.json. Реальное качество OCR этим маленьким контролируемым набором не подтверждено.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1:40-2:30. У аналитика отдельный пошаговый разбор. Для приза, обязательной оплаты и случайного выбора он выбирает подтверждено, не подтверждено или неясно. Подтверждение требует точной цитаты из выбранного текста; сохраняются позиции и происхождение. Высокий ручной приоритет требует всех трёх подтверждений и комментария. Изменение материалов или версии правил делает запись устаревшей. Это человеческая запись, она не улучшает метрики детектора автоматически. Сеть отдельно показывает серии по разным явным ID одного указанного аккаунта и кандидатов по точному URL или маскированному контакту. Общий владелец и нарушение не устанавливаются. Источники: dist/structured-review.mjs, dist/structured-review-view.mjs, dist/network.mjs.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2:30-3:25. Самый важный предел проекта: на свежем синтетическом v4 высокий автоматический приоритет имеет precision 90,9%, но recall только 46,9%. Поэтому автоматический фильтр пропускает 34 из 64 авторских high; это нельзя скрывать или выдавать за готовность к санкциям. TP=30, FP=3, FN=34, TN=93; три уровня 98/160, ошибок 62. Очередь high+medium: precision 81,4%, recall 86,5%, FPR 29,7%. На том же v4 замороженная v1.5 дала 93/160; v1.6 исправила 14, ухудшила 9. Это небольшой суммарный прирост и компромисс, а не улучшение всех метрик: precision и recall high у v1.5 были 93,9% и 48,4%. Движок 1.6.0-track1-context, SHA-256 4127f8b5b136b5325152c6691d1fe2f6d5f58a7ea3e2103021d8b149d60cfc97, заморожен до открытия v4. Корпус: 64 high,64 low,32 medium; RU48,KK48,mixed40,translit24. Второй отдельный AI согласился 160/160, κ=1, но это не разметка специалистов. Источники: dist/evaluation-report.json, evaluation/engine-v1.6-freeze.json, EVALUATION.md. Тексты и все ошибки опубликованы; после первого v4 правила не менялись.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3:25-3:55. Разрешённый JSON импорт запускает текстовые правила в отдельном локальном WebWorker, с прогрессом и отменой. Кампании добавляются после полного результата; OCR остаётся отдельным. Контроль исходных материалов включает точные цитаты, историю и устаревание. Защита от старой вкладки блокирует запись поверх нового снимка; пользователь может экспортировать свою версию и перезагрузить. Удаление предлагает копию JSON. Это локальный MVP без совместной серверной базы, ролей и подписанного аудита. Источники: dist/batch.mjs, dist/analysis-worker.mjs, dist/app.mjs, VERIFICATION.md. Локальные функциональные проверки не заменяют испытания людьми или серверную нагрузку.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3:55-4:40. Следующий шаг: разрешённый корпус полных условий, два специалиста и новый тест минимум 200 кампаний. Для оценки удобства нужен контрольный протокол работы с системой и без неё, реальные замеры времени и ошибок. Затем API импорта, серверная очередь, роли и журнал. Цели precision&gt;=90%, recall&gt;=85%, FPR&lt;=5% относятся к будущему реальному пилоту; текущие AI-синтетические результаты их не подтверждают. Источники: ROADMAP.md, PILOT_PROTOCOL.md. Состав команды 3-5 человек, контакт, регистрация и фактическая подача остаются действиями участников.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4:40-5:00. В демо показываем платный и бесплатный пример, затем ручной разбор с цитатами, сеть и очередь. В разделе качества открыты v4, все ошибки, интервалы, языки и сравнение со старой версией. В пакете есть методология и протокол будущего пилота. Эти материалы позволяют проверить заявленные функции. Итоговую оценку и допуск определяет жюри. Источники: SUBMISSION.md, dist/submission/index.html. Демо: https://iz-safenet-kz.garden-gleam-9738.chatgpt.site/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b478c3e01c493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151a4299464b8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0edd804011460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23632ff6f74fa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60b833a3fa4e1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be6f3f2e5547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ACAEFF-E123-4A79-80C5-9C7CFEFDD8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217B504-8199-4353-8A33-D2C9C623E1A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0B7ABD3-AF47-4F20-9BD8-D91ED94879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8239A0-FA5E-420B-B866-59EE62682C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AB04BD8-BC7A-40D1-B15E-3BB3A88839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5BE9B50-DCBD-4FFA-A2C2-49C20272AD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FA9ACD-17E8-4ABD-AD53-15F3C29527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223F672-0385-43A3-AEDC-053D2A74502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9C1CBF-114B-4F31-B658-3538B0458C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DBD5AA3-920E-4C84-AD15-CEE9A94280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94bf9d2c1c4981" /><Relationship Type="http://schemas.openxmlformats.org/officeDocument/2006/relationships/slideLayout" Target="/ppt/slideLayouts/slideLayout1.xml" Id="R4e17ffea24644f4d" /><Relationship Type="http://schemas.openxmlformats.org/officeDocument/2006/relationships/slideLayout" Target="/ppt/slideLayouts/slideLayout2.xml" Id="R43e98bf158be46fa" /><Relationship Type="http://schemas.openxmlformats.org/officeDocument/2006/relationships/slideLayout" Target="/ppt/slideLayouts/slideLayout3.xml" Id="Rdaa2f8bce57f4937" /><Relationship Type="http://schemas.openxmlformats.org/officeDocument/2006/relationships/slideLayout" Target="/ppt/slideLayouts/slideLayout4.xml" Id="Rf27fdb2e5d2a4549" /><Relationship Type="http://schemas.openxmlformats.org/officeDocument/2006/relationships/slideLayout" Target="/ppt/slideLayouts/slideLayout5.xml" Id="R4b0c86e617bf4d38" /><Relationship Type="http://schemas.openxmlformats.org/officeDocument/2006/relationships/slideLayout" Target="/ppt/slideLayouts/slideLayout6.xml" Id="R3e93fa6902f644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17ffea24644f4d"/>
    <p:sldLayoutId xmlns:r="http://schemas.openxmlformats.org/officeDocument/2006/relationships" id="2147483650" r:id="R43e98bf158be46fa"/>
    <p:sldLayoutId xmlns:r="http://schemas.openxmlformats.org/officeDocument/2006/relationships" id="2147483651" r:id="Rdaa2f8bce57f4937"/>
    <p:sldLayoutId xmlns:r="http://schemas.openxmlformats.org/officeDocument/2006/relationships" id="2147483652" r:id="Rf27fdb2e5d2a4549"/>
    <p:sldLayoutId xmlns:r="http://schemas.openxmlformats.org/officeDocument/2006/relationships" id="2147483653" r:id="R4b0c86e617bf4d38"/>
    <p:sldLayoutId xmlns:r="http://schemas.openxmlformats.org/officeDocument/2006/relationships" id="2147483654" r:id="R3e93fa6902f644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7cbad85d654079" /><Relationship Type="http://schemas.openxmlformats.org/officeDocument/2006/relationships/notesSlide" Target="/ppt/notesSlides/notesSlide1.xml" Id="Rf24357bb3cf243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c3f62023d3410c" /><Relationship Type="http://schemas.openxmlformats.org/officeDocument/2006/relationships/notesSlide" Target="/ppt/notesSlides/notesSlide2.xml" Id="Reddae066877e4f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24cad491134da0" /><Relationship Type="http://schemas.openxmlformats.org/officeDocument/2006/relationships/image" Target="/ppt/media/image.jpeg" Id="Rf90baa05a0bf4d2b" /><Relationship Type="http://schemas.openxmlformats.org/officeDocument/2006/relationships/notesSlide" Target="/ppt/notesSlides/notesSlide3.xml" Id="Ra3e7d6d8af9e4c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ef8aaf4b804f77" /><Relationship Type="http://schemas.openxmlformats.org/officeDocument/2006/relationships/notesSlide" Target="/ppt/notesSlides/notesSlide4.xml" Id="Rfe07ea9ec8264c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db4a98300449aa" /><Relationship Type="http://schemas.openxmlformats.org/officeDocument/2006/relationships/notesSlide" Target="/ppt/notesSlides/notesSlide5.xml" Id="Rf5c88cf8824849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1ef4781bad443d" /><Relationship Type="http://schemas.openxmlformats.org/officeDocument/2006/relationships/notesSlide" Target="/ppt/notesSlides/notesSlide6.xml" Id="R09677fc8053641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4a75d9748144a9" /><Relationship Type="http://schemas.openxmlformats.org/officeDocument/2006/relationships/notesSlide" Target="/ppt/notesSlides/notesSlide7.xml" Id="Rba4ae3edf86f40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5d523b3c684c02" /><Relationship Type="http://schemas.openxmlformats.org/officeDocument/2006/relationships/notesSlide" Target="/ppt/notesSlides/notesSlide8.xml" Id="Rd23874d9ba0348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8024DE-411A-49E7-9D67-53E29277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95375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05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05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05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05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05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05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05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05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05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05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10500" b="1">
                <a:solidFill>
                  <a:srgbClr val="0066CC"/>
                </a:solidFill>
                <a:latin typeface="Arial"/>
                <a:ea typeface="Arial"/>
                <a:cs typeface="Arial"/>
              </a:rPr>
              <a:t>ІЗ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EA1EA-C8A1-4D7B-BAFB-21EBFE1A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42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42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42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42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42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42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42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42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42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42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D1D1F"/>
                </a:solidFill>
                <a:latin typeface="Arial"/>
                <a:ea typeface="Arial"/>
                <a:cs typeface="Arial"/>
              </a:rPr>
              <a:t>Розыгрыши под контролем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320BC-CEC1-44FA-817D-7D387F5F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24325"/>
            <a:ext cx="1028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3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3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3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3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3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3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3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3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3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Проверка платного участия, случайного выбора</a:t>
            </a:r>
          </a:p>
          <a:p xmlns:a="http://schemas.openxmlformats.org/drawingml/2006/main">
            <a:pPr>
              <a:buNone/>
              <a:defRPr sz="23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и указанных связей между материалами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7EAFA-D170-4508-ADAF-DA4B01DD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48400"/>
            <a:ext cx="1089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TEMIR · SafeNet KZ · Трек 1 · MVP v1.6</a:t>
            </a:r>
          </a:p>
        </p:txBody>
      </p:sp>
    </p:spTree>
    <p:extLst>
      <p:ext uri="{BB962C8B-B14F-4D97-AF65-F5344CB8AC3E}">
        <p14:creationId xmlns:p14="http://schemas.microsoft.com/office/powerpoint/2010/main" val="15850951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3D743-3BA6-452C-8EF2-18215B9C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D1D1F"/>
                </a:solidFill>
                <a:latin typeface="Arial"/>
                <a:ea typeface="Arial"/>
                <a:cs typeface="Arial"/>
              </a:rPr>
              <a:t>Контекст условий розыгрыша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183190-C953-41E4-93D9-DBA7ECBF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6CC"/>
                </a:solidFill>
                <a:latin typeface="Arial"/>
                <a:ea typeface="Arial"/>
                <a:cs typeface="Arial"/>
              </a:rPr>
              <a:t>Публикация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7532E-EBD6-40CE-9F29-4243A3A5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«Разыгрываем смартфон»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B8F4A0-1911-4D00-A2DB-E11596AF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6CC"/>
                </a:solidFill>
                <a:latin typeface="Arial"/>
                <a:ea typeface="Arial"/>
                <a:cs typeface="Arial"/>
              </a:rPr>
              <a:t>Обязательная оплата входа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4FC0B-78A4-4298-8F86-40CAEF40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«Для участия купите слот за 3 000 ₸»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B25BF9-AFC6-49C8-B577-90776CE7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6CC"/>
                </a:solidFill>
                <a:latin typeface="Arial"/>
                <a:ea typeface="Arial"/>
                <a:cs typeface="Arial"/>
              </a:rPr>
              <a:t>Текст эфира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0123B-1EB8-4DF8-B5C2-9AE46A5C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«Победителя определит колесо фортуны»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8BF2F-AE18-41F8-A825-F8C735FC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48400"/>
            <a:ext cx="1089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Синтетический пример. Оплата доставки и цена приза имеют другую роль.</a:t>
            </a:r>
          </a:p>
        </p:txBody>
      </p:sp>
    </p:spTree>
    <p:extLst>
      <p:ext uri="{BB962C8B-B14F-4D97-AF65-F5344CB8AC3E}">
        <p14:creationId xmlns:p14="http://schemas.microsoft.com/office/powerpoint/2010/main" val="19810695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FFD0E8-6248-47D3-8496-69E1EFA9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D1D1F"/>
                </a:solidFill>
                <a:latin typeface="Arial"/>
                <a:ea typeface="Arial"/>
                <a:cs typeface="Arial"/>
              </a:rPr>
              <a:t>Проверка за один экран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D39F7D-01E3-42FD-97F2-64E52D74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590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5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5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5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5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5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5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5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5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5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66CC"/>
                </a:solidFill>
                <a:latin typeface="Arial"/>
                <a:ea typeface="Arial"/>
                <a:cs typeface="Arial"/>
              </a:rPr>
              <a:t>Текст или скриншот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D2F83-428D-4276-BFA5-E50CF75B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0325"/>
            <a:ext cx="58578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Приз, обязательная оплата</a:t>
            </a:r>
          </a:p>
          <a:p xmlns:a="http://schemas.openxmlformats.org/drawingml/2006/main">
            <a: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и случайный выбор:</a:t>
            </a:r>
          </a:p>
          <a:p xmlns:a="http://schemas.openxmlformats.org/drawingml/2006/main">
            <a: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цитаты из ваших материалов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F9E15-1944-4F15-86E1-68293AB4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33925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Недостающие и противоречивые</a:t>
            </a:r>
          </a:p>
          <a:p xmlns:a="http://schemas.openxmlformats.org/drawingml/2006/main">
            <a:pPr>
              <a:buNone/>
              <a:defRPr sz="217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условия требуют уточнения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A0B3A6-F6A0-4B7F-95F1-601EF66A47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0baa05a0bf4d2b"/>
          <a:stretch xmlns:a="http://schemas.openxmlformats.org/drawingml/2006/main"/>
        </p:blipFill>
        <p:spPr>
          <a:xfrm xmlns:a="http://schemas.openxmlformats.org/drawingml/2006/main" flipH="0" flipV="0">
            <a:off x="7781553" y="1143000"/>
            <a:ext cx="2486770" cy="5381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E92E69-5BCD-47A1-BF35-E519494E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48400"/>
            <a:ext cx="1089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Текст + OCR RU/KZ + предоставленная расшифровка эфира</a:t>
            </a:r>
          </a:p>
        </p:txBody>
      </p:sp>
    </p:spTree>
    <p:extLst>
      <p:ext uri="{BB962C8B-B14F-4D97-AF65-F5344CB8AC3E}">
        <p14:creationId xmlns:p14="http://schemas.microsoft.com/office/powerpoint/2010/main" val="1325387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03B845-930F-497B-9B4C-8F15357D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D1D1F"/>
                </a:solidFill>
                <a:latin typeface="Arial"/>
                <a:ea typeface="Arial"/>
                <a:cs typeface="Arial"/>
              </a:rPr>
              <a:t>Ручная проверка и сеть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8CACB4-398A-4F06-B9DD-FE221FAA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6CC"/>
                </a:solidFill>
                <a:latin typeface="Arial"/>
                <a:ea typeface="Arial"/>
                <a:cs typeface="Arial"/>
              </a:rPr>
              <a:t>Условия по источникам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19A1D7-767E-4F08-9B98-830585CB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1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1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1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1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1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1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1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1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1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D1D1F"/>
                </a:solidFill>
                <a:latin typeface="Arial"/>
                <a:ea typeface="Arial"/>
                <a:cs typeface="Arial"/>
              </a:rPr>
              <a:t>Три признака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F376C3-539D-4433-96A6-A2D9E142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Приз</a:t>
            </a:r>
          </a:p>
          <a:p xmlns:a="http://schemas.openxmlformats.org/drawingml/2006/main">
            <a:pPr>
              <a:buNone/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Оплата входа</a:t>
            </a:r>
          </a:p>
          <a:p xmlns:a="http://schemas.openxmlformats.org/drawingml/2006/main">
            <a:pPr>
              <a:buNone/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Случайный выбор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31158-C6A4-40CF-9A7E-BD4BE85E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05325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Точная цитата и источник</a:t>
            </a:r>
          </a:p>
          <a:p xmlns:a="http://schemas.openxmlformats.org/drawingml/2006/main">
            <a:pPr>
              <a:buNone/>
              <a:defRPr sz="20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для каждого подтверждения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B11B96-5678-4125-8404-029BEDEA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859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6CC"/>
                </a:solidFill>
                <a:latin typeface="Arial"/>
                <a:ea typeface="Arial"/>
                <a:cs typeface="Arial"/>
              </a:rPr>
              <a:t>Связи между материалами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3708B7-0834-451F-AF73-85CBA907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14550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0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0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0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0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0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0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0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0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0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D1D1F"/>
                </a:solidFill>
                <a:latin typeface="Arial"/>
                <a:ea typeface="Arial"/>
                <a:cs typeface="Arial"/>
              </a:rPr>
              <a:t>Аккаунты A · B · 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1B6AF7-EA0E-41AF-AD07-655857F0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504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Серия по разным ID</a:t>
            </a:r>
          </a:p>
          <a:p xmlns:a="http://schemas.openxmlformats.org/drawingml/2006/main">
            <a:pPr>
              <a:buNone/>
              <a:defRPr sz="21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Кандидат по точной ссылке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467B8C-9ECD-4F21-84CC-A79B16F0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767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00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00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00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00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00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00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00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00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0066CC"/>
                </a:solidFill>
                <a:latin typeface="Arial"/>
                <a:ea typeface="Arial"/>
                <a:cs typeface="Arial"/>
              </a:rPr>
              <a:t>Источник и основание</a:t>
            </a:r>
          </a:p>
          <a:p xmlns:a="http://schemas.openxmlformats.org/drawingml/2006/main">
            <a:pPr>
              <a:buNone/>
              <a:defRPr sz="2325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0066CC"/>
                </a:solidFill>
                <a:latin typeface="Arial"/>
                <a:ea typeface="Arial"/>
                <a:cs typeface="Arial"/>
              </a:rPr>
              <a:t>для проверки связи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BD63BF-105C-4A2A-8CEC-7126141A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48400"/>
            <a:ext cx="1089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Ручной приоритет хранится отдельно. Совпадение ссылок не повышает риск.</a:t>
            </a:r>
          </a:p>
        </p:txBody>
      </p:sp>
    </p:spTree>
    <p:extLst>
      <p:ext uri="{BB962C8B-B14F-4D97-AF65-F5344CB8AC3E}">
        <p14:creationId xmlns:p14="http://schemas.microsoft.com/office/powerpoint/2010/main" val="9550089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2450F0-51F3-4C7E-83D1-33C53DA9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D1D1F"/>
                </a:solidFill>
                <a:latin typeface="Arial"/>
                <a:ea typeface="Arial"/>
                <a:cs typeface="Arial"/>
              </a:rPr>
              <a:t>Свежий слепой тест: 160 сценариев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D6F1DA-5F3B-4E40-B1EF-C22B01F3C2BF}"/>
              </a:ext>
            </a:extLst>
          </p:cNvPr>
          <p:cNvGraphicFramePr/>
          <p:nvPr/>
        </p:nvGraphicFramePr>
        <p:xfrm>
          <a:off xmlns:a="http://schemas.openxmlformats.org/drawingml/2006/main" x="647700" y="1428750"/>
          <a:ext xmlns:a="http://schemas.openxmlformats.org/drawingml/2006/main" cx="108966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857750"/>
                <a:gridCol w="2476500"/>
                <a:gridCol w="3562350"/>
              </a:tblGrid>
              <a:tr h="5238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Показатель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Основание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Precision высокого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90,9%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30 / 33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Recall высокого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46,9%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30 / 64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FPR высокого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3,1%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3 / 96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Совпадение трёх уровней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61,3%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98 / 160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FPR очереди high + medium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29,7%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19 / 64 низких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2ECAAD-61EA-4CF9-BE21-EA851414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9107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95% ДИ precision: 76,4%-96,9%; recall: 35,2%-58,9%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8077FE-781D-472D-8587-1C9832B8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На том же v4: v1.5 93/160, v1.6 98/160</a:t>
            </a:r>
          </a:p>
          <a:p xmlns:a="http://schemas.openxmlformats.org/drawingml/2006/main">
            <a: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Исправлено 14, ухудшено 9. Ошибок v1.6: 62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B5BB2A-D4D1-480A-BEE8-6CE74E32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48400"/>
            <a:ext cx="1089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Отдельный AI-автор. Синтетический корпус; реальный поток ещё не проверен.</a:t>
            </a:r>
          </a:p>
        </p:txBody>
      </p:sp>
    </p:spTree>
    <p:extLst>
      <p:ext uri="{BB962C8B-B14F-4D97-AF65-F5344CB8AC3E}">
        <p14:creationId xmlns:p14="http://schemas.microsoft.com/office/powerpoint/2010/main" val="1527094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0B5351-8A57-428A-BE81-AAFFE352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D1D1F"/>
                </a:solidFill>
                <a:latin typeface="Arial"/>
                <a:ea typeface="Arial"/>
                <a:cs typeface="Arial"/>
              </a:rPr>
              <a:t>Локальный анализ и данные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EF08A5-7857-4E08-8028-BC77AB72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6CC"/>
                </a:solidFill>
                <a:latin typeface="Arial"/>
                <a:ea typeface="Arial"/>
                <a:cs typeface="Arial"/>
              </a:rPr>
              <a:t>Пакетная проверка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5888B6-213E-43AA-98D3-6590A6EB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6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6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6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6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6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6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6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6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6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6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Текстовый анализ в WebWorker</a:t>
            </a:r>
          </a:p>
          <a:p xmlns:a="http://schemas.openxmlformats.org/drawingml/2006/main">
            <a:pPr>
              <a:buNone/>
              <a:defRPr sz="26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Прогресс и отмена до сохранения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D84C2C-318A-4B9B-A629-82C9F19C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6CC"/>
                </a:solidFill>
                <a:latin typeface="Arial"/>
                <a:ea typeface="Arial"/>
                <a:cs typeface="Arial"/>
              </a:rPr>
              <a:t>Контроль материалов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3FE687-8C6B-4820-A9C4-6170A473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86225"/>
            <a:ext cx="1076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Черновики, цитаты и устаревание</a:t>
            </a:r>
          </a:p>
          <a:p xmlns:a="http://schemas.openxmlformats.org/drawingml/2006/main">
            <a: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Конфликты вкладок и удаление с копией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1A53D3-2019-44C0-AC96-3A97B9F9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48400"/>
            <a:ext cx="1089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OCR работает отдельно. Сервер и совместный доступ пока не реализованы.</a:t>
            </a:r>
          </a:p>
        </p:txBody>
      </p:sp>
    </p:spTree>
    <p:extLst>
      <p:ext uri="{BB962C8B-B14F-4D97-AF65-F5344CB8AC3E}">
        <p14:creationId xmlns:p14="http://schemas.microsoft.com/office/powerpoint/2010/main" val="5824604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7BF351-15C9-4A31-8CF9-BBF89EFB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D1D1F"/>
                </a:solidFill>
                <a:latin typeface="Arial"/>
                <a:ea typeface="Arial"/>
                <a:cs typeface="Arial"/>
              </a:rPr>
              <a:t>План пилота на четыре недели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C2BF7E-07CE-4C7A-BDAF-ED559FCE2551}"/>
              </a:ext>
            </a:extLst>
          </p:cNvPr>
          <p:cNvGraphicFramePr/>
          <p:nvPr/>
        </p:nvGraphicFramePr>
        <p:xfrm>
          <a:off xmlns:a="http://schemas.openxmlformats.org/drawingml/2006/main" x="647700" y="1476375"/>
          <a:ext xmlns:a="http://schemas.openxmlformats.org/drawingml/2006/main" cx="1089660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7372350"/>
              </a:tblGrid>
              <a:tr h="6629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Этап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Проверяемый результат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Неделя 1 · данные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Два специалиста, разрешённый тест ≥200 кампаний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Неделя 2 · сервер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Импорт, очередь, БД, роли и журнал решений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Неделя 3 · качество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RU/KZ, ошибки OCR, всплески и восстановление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Неделя 4 · пилот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Работа аналитиков и отчёт для решения о расширении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3C115-C49E-4C5B-B51E-1389A1D5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6CC"/>
                </a:solidFill>
                <a:latin typeface="Arial"/>
                <a:ea typeface="Arial"/>
                <a:cs typeface="Arial"/>
              </a:rPr>
              <a:t>Цели пилота: precision ≥90% · recall ≥85% · FPR ≤5%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B99D4-2303-4E38-B3B1-14639106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48400"/>
            <a:ext cx="1089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На реальных публикациях цели ещё не подтверждены. Автоматические санкции не предусмотрены.</a:t>
            </a:r>
          </a:p>
        </p:txBody>
      </p:sp>
    </p:spTree>
    <p:extLst>
      <p:ext uri="{BB962C8B-B14F-4D97-AF65-F5344CB8AC3E}">
        <p14:creationId xmlns:p14="http://schemas.microsoft.com/office/powerpoint/2010/main" val="10405097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EEEE93-5B54-4081-9152-473D3C20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D1D1F"/>
                </a:solidFill>
                <a:latin typeface="Arial"/>
                <a:ea typeface="Arial"/>
                <a:cs typeface="Arial"/>
              </a:rPr>
              <a:t>Демонстрация и следующий этап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20797-E5B9-498D-8E46-22925478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9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9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9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9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9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9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9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9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9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9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66CC"/>
                </a:solidFill>
                <a:latin typeface="Arial"/>
                <a:ea typeface="Arial"/>
                <a:cs typeface="Arial"/>
              </a:rPr>
              <a:t>Платный и бесплатный пример</a:t>
            </a:r>
          </a:p>
          <a:p xmlns:a="http://schemas.openxmlformats.org/drawingml/2006/main">
            <a:pPr>
              <a:buNone/>
              <a:defRPr sz="29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66CC"/>
                </a:solidFill>
                <a:latin typeface="Arial"/>
                <a:ea typeface="Arial"/>
                <a:cs typeface="Arial"/>
              </a:rPr>
              <a:t>Ручные цитаты и очередь аналитика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D1C98E-F388-43DF-96D2-A2D205CD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1076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Тест v4 со всеми ошибками и протокол пилота</a:t>
            </a:r>
          </a:p>
          <a:p xmlns:a="http://schemas.openxmlformats.org/drawingml/2006/main">
            <a:pPr>
              <a:buNone/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MVP и исходники доступны для проверки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CABEA1-FED2-4DD8-BFA1-01D2368F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48400"/>
            <a:ext cx="1089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ІЗ выявляет признаки. Юридическую оценку выполняет специалист.</a:t>
            </a:r>
          </a:p>
        </p:txBody>
      </p:sp>
    </p:spTree>
    <p:extLst>
      <p:ext uri="{BB962C8B-B14F-4D97-AF65-F5344CB8AC3E}">
        <p14:creationId xmlns:p14="http://schemas.microsoft.com/office/powerpoint/2010/main" val="8533635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2026-10-20T17:20:25.3140000Z</dcterms:created>
  <dcterms:modified xsi:type="dcterms:W3CDTF">2026-10-20T17:20:25.3140000Z</dcterms:modified>
</coreProperties>
</file>