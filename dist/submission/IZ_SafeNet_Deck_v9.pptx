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a7b1412ef4a27" /><Relationship Type="http://schemas.openxmlformats.org/officeDocument/2006/relationships/extended-properties" Target="/docProps/app.xml" Id="Rf297ffd720b94e99" /><Relationship Type="http://schemas.openxmlformats.org/officeDocument/2006/relationships/officeDocument" Target="/ppt/presentation.xml" Id="R11f31ac8e6aa43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b2a78591b04494"/>
  </p:sldMasterIdLst>
  <p:notesMasterIdLst>
    <p:notesMasterId xmlns:r="http://schemas.openxmlformats.org/officeDocument/2006/relationships" r:id="Rabdcb475e5ae4cd3"/>
  </p:notesMasterIdLst>
  <p:sldIdLst>
    <p:sldId xmlns:r="http://schemas.openxmlformats.org/officeDocument/2006/relationships" id="256" r:id="Rcb75b13591584c32"/>
    <p:sldId xmlns:r="http://schemas.openxmlformats.org/officeDocument/2006/relationships" id="257" r:id="R459607f2425e40ff"/>
    <p:sldId xmlns:r="http://schemas.openxmlformats.org/officeDocument/2006/relationships" id="258" r:id="Rb4178a911dcf4678"/>
    <p:sldId xmlns:r="http://schemas.openxmlformats.org/officeDocument/2006/relationships" id="259" r:id="Rb9f2eba6d1264cb4"/>
    <p:sldId xmlns:r="http://schemas.openxmlformats.org/officeDocument/2006/relationships" id="260" r:id="Reb66e108d95948e0"/>
    <p:sldId xmlns:r="http://schemas.openxmlformats.org/officeDocument/2006/relationships" id="261" r:id="Rb0b6fba9d0164dac"/>
    <p:sldId xmlns:r="http://schemas.openxmlformats.org/officeDocument/2006/relationships" id="262" r:id="R27f7a189535d44a6"/>
    <p:sldId xmlns:r="http://schemas.openxmlformats.org/officeDocument/2006/relationships" id="263" r:id="R59ccccbabbb347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4fd59238e4424e" /><Relationship Type="http://schemas.openxmlformats.org/officeDocument/2006/relationships/slideMaster" Target="/ppt/slideMasters/slideMaster1.xml" Id="R85b2a78591b04494" /><Relationship Type="http://schemas.openxmlformats.org/officeDocument/2006/relationships/notesMaster" Target="/ppt/notesMasters/notesMaster1.xml" Id="Rabdcb475e5ae4cd3" /><Relationship Type="http://schemas.openxmlformats.org/officeDocument/2006/relationships/presProps" Target="/ppt/presProps.xml" Id="R63cf040d36c14a0f" /><Relationship Type="http://schemas.openxmlformats.org/officeDocument/2006/relationships/tableStyles" Target="/ppt/tableStyles.xml" Id="Re6088a70ae4f42be" /><Relationship Type="http://schemas.openxmlformats.org/officeDocument/2006/relationships/slide" Target="/ppt/slides/slide1.xml" Id="Rcb75b13591584c32" /><Relationship Type="http://schemas.openxmlformats.org/officeDocument/2006/relationships/slide" Target="/ppt/slides/slide2.xml" Id="R459607f2425e40ff" /><Relationship Type="http://schemas.openxmlformats.org/officeDocument/2006/relationships/slide" Target="/ppt/slides/slide3.xml" Id="Rb4178a911dcf4678" /><Relationship Type="http://schemas.openxmlformats.org/officeDocument/2006/relationships/slide" Target="/ppt/slides/slide4.xml" Id="Rb9f2eba6d1264cb4" /><Relationship Type="http://schemas.openxmlformats.org/officeDocument/2006/relationships/slide" Target="/ppt/slides/slide5.xml" Id="Reb66e108d95948e0" /><Relationship Type="http://schemas.openxmlformats.org/officeDocument/2006/relationships/slide" Target="/ppt/slides/slide6.xml" Id="Rb0b6fba9d0164dac" /><Relationship Type="http://schemas.openxmlformats.org/officeDocument/2006/relationships/slide" Target="/ppt/slides/slide7.xml" Id="R27f7a189535d44a6" /><Relationship Type="http://schemas.openxmlformats.org/officeDocument/2006/relationships/slide" Target="/ppt/slides/slide8.xml" Id="R59ccccbabbb347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e293c2960544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524664927d42ea" /><Relationship Type="http://schemas.openxmlformats.org/officeDocument/2006/relationships/notesMaster" Target="/ppt/notesMasters/notesMaster1.xml" Id="Ra20a6cc2dcaf46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e09add86bc4fda" /><Relationship Type="http://schemas.openxmlformats.org/officeDocument/2006/relationships/notesMaster" Target="/ppt/notesMasters/notesMaster1.xml" Id="R1013f318eafe46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2205815fe1432c" /><Relationship Type="http://schemas.openxmlformats.org/officeDocument/2006/relationships/notesMaster" Target="/ppt/notesMasters/notesMaster1.xml" Id="R6e0e09f2042746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98479f0c4d4eb9" /><Relationship Type="http://schemas.openxmlformats.org/officeDocument/2006/relationships/notesMaster" Target="/ppt/notesMasters/notesMaster1.xml" Id="R4a76706f698d47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47ec89127c496a" /><Relationship Type="http://schemas.openxmlformats.org/officeDocument/2006/relationships/notesMaster" Target="/ppt/notesMasters/notesMaster1.xml" Id="R9906cf6b23404a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011a36414d4b9e" /><Relationship Type="http://schemas.openxmlformats.org/officeDocument/2006/relationships/notesMaster" Target="/ppt/notesMasters/notesMaster1.xml" Id="R0793b744baf842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73e3478d54470b" /><Relationship Type="http://schemas.openxmlformats.org/officeDocument/2006/relationships/notesMaster" Target="/ppt/notesMasters/notesMaster1.xml" Id="Rf6a8c12f1d9a4b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4183a432364d6c" /><Relationship Type="http://schemas.openxmlformats.org/officeDocument/2006/relationships/notesMaster" Target="/ppt/notesMasters/notesMaster1.xml" Id="Reedfee7d06064a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0:00–0:20. ІЗ помогает собрать условия одного розыгрыша и увидеть признаки платной лотереи с точными цитатами. Система задаёт приоритет проверки, окончательную оценку даёт человек. Источник: пользовательский бриф SafeNet_KZ_Hackathon, стр. 1–4.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0:20–0:55. Условия могут быть разнесены: приз в публикации, оплата в другом сообщении, выбор победителя в эфире. В нашем синтетическом примере материалы соединены явным ID. Отдельно сохраняем заявленную комиссию: факт прибыли не подтверждаем. Источники: dist/network-demo.mjs; бриф, трек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0:55–1:40. Пользователь вставляет текст или загружает скриншот. Получает понятный результат и фразы, на которых он основан. Сравните платный и бесплатный пример. Текст и OCR обрабатываются в браузере. RU/KZ; транслит ограничен. Скриншот: текущий локальный MVP, синтетический пример серии.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1:40–2:30. Слева — серия одного явно указанного аккаунта по разным ID. Справа — кандидат связи разных аккаунтов по одной точной рекламной ссылке. Можно открыть основание и исходный материал. Обычный общий домен не создаёт связь. Контакты в графе маскируются, совпадение не меняет приоритет риска. В рабочем месте есть очередь, переход к следующему делу и время видимой сессии, но экономия времени ещё не измерена людьми. Источники: dist/network.mjs, dist/network-view.mjs, scripts/check-network.mjs, текущий MVP. Синтетическое демо.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2:30–3:25. Версия 1.5.0-track1-rules. Движок зафиксирован до открытия нового корпуса v3. Отдельный AI-автор не видел код и прежние корпуса. Показатели относятся к синтетическим текстам; это не реальные публикации и не человеческая разметка. TP33, FP5, FN15, TN67. Три уровня: 81/120. Все ошибки сохранены, v3 не использовался для последующей настройки. Отдельно показана нагрузка на очередь high+medium. Источники: dist/evaluation-report.json; evaluation/independent-v3.json; EVALUATION.md.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3:25–3:55. Браузерный MVP уже работает. Для пилота предусмотрены разрешённый импорт, очередь, отдельные OCR-воркеры, stateless-анализ, PostgreSQL и роли аналитиков. OCR масштабируется отдельно. Локальный микрозамер текста не является доказательством серверной нагрузки. Источник: ROADMAP.md; dist/evaluation-report.json.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3:55–4:40. Сначала разрешённые обезличенные данные и два разметчика. Затем серверный поток и рабочее место. На третьей неделе измеряем качество и нагрузку. На четвёртой — контролируемый пилот. Это план после согласования, не обещание уже работающего сервиса. Цели precision90 recall85 FPR5 на реальных разрешённых данных проверяются на новом тесте минимум200 кампаний. Источник: ROADMAP.md.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4:40–5:00. Сейчас можно проверить платный пример, бесплатный конкурс, серию связанных материалов и решение аналитика. В пакете есть методология, все сценарии, метрики и план внедрения. Ограничения открыты: нет обхода платформ и распознавания речи, качество реального потока ещё предстоит измерить. Источники: SUBMISSION.md, README.md. Демо: https://iz-safenet-kz.garden-gleam-9738.chatgpt.site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e2843a17343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4663e453d46b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4fbc2899547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9d5c5d70440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ae2688ea242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3a8c731b9a42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ACAEFF-E123-4A79-80C5-9C7CFEFDD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17B504-8199-4353-8A33-D2C9C623E1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B7ABD3-AF47-4F20-9BD8-D91ED9487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8239A0-FA5E-420B-B866-59EE62682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B04BD8-BC7A-40D1-B15E-3BB3A8883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BE9B50-DCBD-4FFA-A2C2-49C20272A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FA9ACD-17E8-4ABD-AD53-15F3C2952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23F672-0385-43A3-AEDC-053D2A7450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9C1CBF-114B-4F31-B658-3538B0458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BD5AA3-920E-4C84-AD15-CEE9A94280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320c31e9fd40d9" /><Relationship Type="http://schemas.openxmlformats.org/officeDocument/2006/relationships/slideLayout" Target="/ppt/slideLayouts/slideLayout1.xml" Id="Rcebfbb64cb414626" /><Relationship Type="http://schemas.openxmlformats.org/officeDocument/2006/relationships/slideLayout" Target="/ppt/slideLayouts/slideLayout2.xml" Id="Rde67a25cd08d4f56" /><Relationship Type="http://schemas.openxmlformats.org/officeDocument/2006/relationships/slideLayout" Target="/ppt/slideLayouts/slideLayout3.xml" Id="R1ac5b8ac7d8b4f97" /><Relationship Type="http://schemas.openxmlformats.org/officeDocument/2006/relationships/slideLayout" Target="/ppt/slideLayouts/slideLayout4.xml" Id="R8bcf2ac24f244360" /><Relationship Type="http://schemas.openxmlformats.org/officeDocument/2006/relationships/slideLayout" Target="/ppt/slideLayouts/slideLayout5.xml" Id="R50f7f8c960fe46fe" /><Relationship Type="http://schemas.openxmlformats.org/officeDocument/2006/relationships/slideLayout" Target="/ppt/slideLayouts/slideLayout6.xml" Id="Rb96bdcb0247540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bfbb64cb414626"/>
    <p:sldLayoutId xmlns:r="http://schemas.openxmlformats.org/officeDocument/2006/relationships" id="2147483650" r:id="Rde67a25cd08d4f56"/>
    <p:sldLayoutId xmlns:r="http://schemas.openxmlformats.org/officeDocument/2006/relationships" id="2147483651" r:id="R1ac5b8ac7d8b4f97"/>
    <p:sldLayoutId xmlns:r="http://schemas.openxmlformats.org/officeDocument/2006/relationships" id="2147483652" r:id="R8bcf2ac24f244360"/>
    <p:sldLayoutId xmlns:r="http://schemas.openxmlformats.org/officeDocument/2006/relationships" id="2147483653" r:id="R50f7f8c960fe46fe"/>
    <p:sldLayoutId xmlns:r="http://schemas.openxmlformats.org/officeDocument/2006/relationships" id="2147483654" r:id="Rb96bdcb0247540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7351902714636" /><Relationship Type="http://schemas.openxmlformats.org/officeDocument/2006/relationships/notesSlide" Target="/ppt/notesSlides/notesSlide1.xml" Id="R5424e955878d4f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a7b1f0a694fe4" /><Relationship Type="http://schemas.openxmlformats.org/officeDocument/2006/relationships/notesSlide" Target="/ppt/notesSlides/notesSlide2.xml" Id="R5c8d1480430748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29fe96e4b409b" /><Relationship Type="http://schemas.openxmlformats.org/officeDocument/2006/relationships/image" Target="/ppt/media/image.jpeg" Id="R5cbef2cfd36f4531" /><Relationship Type="http://schemas.openxmlformats.org/officeDocument/2006/relationships/notesSlide" Target="/ppt/notesSlides/notesSlide3.xml" Id="R325dd774458640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670b17275447f" /><Relationship Type="http://schemas.openxmlformats.org/officeDocument/2006/relationships/notesSlide" Target="/ppt/notesSlides/notesSlide4.xml" Id="R1833285f860f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f3ebb10c74cb4" /><Relationship Type="http://schemas.openxmlformats.org/officeDocument/2006/relationships/notesSlide" Target="/ppt/notesSlides/notesSlide5.xml" Id="Rdaee748a18784f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00789722dc4ec8" /><Relationship Type="http://schemas.openxmlformats.org/officeDocument/2006/relationships/notesSlide" Target="/ppt/notesSlides/notesSlide6.xml" Id="R48ff0c749d1641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454d1507d49c1" /><Relationship Type="http://schemas.openxmlformats.org/officeDocument/2006/relationships/notesSlide" Target="/ppt/notesSlides/notesSlide7.xml" Id="R972f0b26cb484b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b27774a80947d2" /><Relationship Type="http://schemas.openxmlformats.org/officeDocument/2006/relationships/notesSlide" Target="/ppt/notesSlides/notesSlide8.xml" Id="R6f9e930cfe4449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024DE-411A-49E7-9D67-53E29277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953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05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ІЗ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EA1EA-C8A1-4D7B-BAFB-21EBFE1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Розыгрыши под контролем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320BC-CEC1-44FA-817D-7D387F5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Проверка платного участия, случайного выбора</a:t>
            </a:r>
          </a:p>
          <a:p xmlns:a="http://schemas.openxmlformats.org/drawingml/2006/main">
            <a:pPr>
              <a:defRPr sz="23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и указанных связей между материалами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7EAFA-D170-4508-ADAF-DA4B01D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TEMIR · SafeNet KZ · Трек 1 · Рабочий MVP</a:t>
            </a:r>
          </a:p>
        </p:txBody>
      </p:sp>
    </p:spTree>
    <p:extLst>
      <p:ext uri="{BB962C8B-B14F-4D97-AF65-F5344CB8AC3E}">
        <p14:creationId xmlns:p14="http://schemas.microsoft.com/office/powerpoint/2010/main" val="15850951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D743-3BA6-452C-8EF2-18215B9C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Условия одного розыгрыша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83190-C953-41E4-93D9-DBA7ECB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7532E-EBD6-40CE-9F29-4243A3A5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«Разыгрываем смартфон»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8F4A0-1911-4D00-A2DB-E11596AF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Условия участия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4FC0B-78A4-4298-8F86-40CAEF4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«Для участия купите слот за 3 000 ₸»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25BF9-AFC6-49C8-B577-90776CE7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Текст эфира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0123B-1EB8-4DF8-B5C2-9AE46A5C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«Победителя определит колесо фортуны»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BF2F-AE18-41F8-A825-F8C735FC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Синтетический пример. Принадлежность источников указана в материалах.</a:t>
            </a:r>
          </a:p>
        </p:txBody>
      </p:sp>
    </p:spTree>
    <p:extLst>
      <p:ext uri="{BB962C8B-B14F-4D97-AF65-F5344CB8AC3E}">
        <p14:creationId xmlns:p14="http://schemas.microsoft.com/office/powerpoint/2010/main" val="1981069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FD0E8-6248-47D3-8496-69E1EFA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Проверка за один экран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39F7D-01E3-42FD-97F2-64E52D74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Текст или скриншот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D2F83-428D-4276-BFA5-E50CF75B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5857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Приз, обязательная оплата</a:t>
            </a:r>
          </a:p>
          <a:p xmlns:a="http://schemas.openxmlformats.org/drawingml/2006/main">
            <a: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и случайный выбор —</a:t>
            </a:r>
          </a:p>
          <a:p xmlns:a="http://schemas.openxmlformats.org/drawingml/2006/main">
            <a: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рядом с исходными фразами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F9E15-1944-4F15-86E1-68293AB4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Недостающие и противоречивые</a:t>
            </a:r>
          </a:p>
          <a:p xmlns:a="http://schemas.openxmlformats.org/drawingml/2006/main">
            <a:pPr>
              <a:defRPr sz="217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условия требуют уточнения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E5A09-13A9-4050-8D22-7ACC10B17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ef2cfd36f4531"/>
          <a:stretch xmlns:a="http://schemas.openxmlformats.org/drawingml/2006/main"/>
        </p:blipFill>
        <p:spPr>
          <a:xfrm xmlns:a="http://schemas.openxmlformats.org/drawingml/2006/main">
            <a:off x="7781553" y="1143000"/>
            <a:ext cx="2486770" cy="5381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92E69-5BCD-47A1-BF35-E519494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Текст + OCR RU/KZ + предоставленная расшифровка эфира</a:t>
            </a:r>
          </a:p>
        </p:txBody>
      </p:sp>
    </p:spTree>
    <p:extLst>
      <p:ext uri="{BB962C8B-B14F-4D97-AF65-F5344CB8AC3E}">
        <p14:creationId xmlns:p14="http://schemas.microsoft.com/office/powerpoint/2010/main" val="132538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3B845-930F-497B-9B4C-8F15357D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Проверяемые связи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CACB4-398A-4F06-B9DD-FE221FAA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Повторяемость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9A1D7-767E-4F08-9B98-830585CB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Аккаунт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376C3-539D-4433-96A6-A2D9E14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384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DRAW_DEMO_01</a:t>
            </a:r>
          </a:p>
          <a:p xmlns:a="http://schemas.openxmlformats.org/drawingml/2006/main">
            <a: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DRAW_DEMO_02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31158-C6A4-40CF-9A7E-BD4BE85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Разные явные ID</a:t>
            </a:r>
          </a:p>
          <a:p xmlns:a="http://schemas.openxmlformats.org/drawingml/2006/main">
            <a:pPr>
              <a:defRPr sz="21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и разные тексты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11B96-5678-4125-8404-029BEDEA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Кандидат связи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708B7-0834-451F-AF73-85CBA907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Аккаунты A · B ·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B6AF7-EA0E-41AF-AD07-655857F0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Одна точная рекламная ссылка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67B8C-9ECD-4F21-84CC-A79B16F0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raffle.temir.test/</a:t>
            </a:r>
          </a:p>
          <a:p xmlns:a="http://schemas.openxmlformats.org/drawingml/2006/main">
            <a:pPr>
              <a:defRPr sz="2400" b="0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66CC"/>
                </a:solidFill>
                <a:latin typeface="Arial"/>
                <a:ea typeface="Arial"/>
                <a:cs typeface="Arial"/>
              </a:rPr>
              <a:t>rules/season-a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D63BF-105C-4A2A-8CEC-7126141A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Синтетический пример. Источник + цитата + позиции; риск не повышается.</a:t>
            </a:r>
          </a:p>
        </p:txBody>
      </p:sp>
    </p:spTree>
    <p:extLst>
      <p:ext uri="{BB962C8B-B14F-4D97-AF65-F5344CB8AC3E}">
        <p14:creationId xmlns:p14="http://schemas.microsoft.com/office/powerpoint/2010/main" val="955008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450F0-51F3-4C7E-83D1-33C53DA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Свежий тест: 120 сценариев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513FE-45D5-4F48-B997-94009B1D64BA}"/>
              </a:ext>
            </a:extLst>
          </p:cNvPr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2476500"/>
                <a:gridCol w="35623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Основание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Precision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86,8%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33 / 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Recall высокого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68,8%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33 / 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Ложные высокие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6,9%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5 / 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Совпадение трёх уровней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67,5%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81 / 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FPR очереди high +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37,5%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18 / 48 низких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ECAAD-61EA-4CF9-BE21-EA85141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Отдельный AI-автор · замороженный движок · синтетические тексты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077FE-781D-472D-8587-1C9832B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95% интервал precision: 72,7%–94,2%</a:t>
            </a:r>
          </a:p>
          <a:p xmlns:a="http://schemas.openxmlformats.org/drawingml/2006/main">
            <a:pPr>
              <a:defRPr sz="1800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95% интервал recall: 54,7%–80,1%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5BB2A-D4D1-480A-BEE8-6CE74E32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Качество реального потока и разметку специалистами предстоит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52709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B5351-8A57-428A-BE81-AAFFE352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Архитектура внедрения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F08A5-7857-4E08-8028-BC77AB72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888B6-213E-43AA-98D3-6590A6EB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Браузер → OCR / правила → связи → решение → экспорт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84C2C-318A-4B9B-A629-82C9F19C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План пилота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FE687-8C6B-4820-A9C4-6170A473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1076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Разрешённый импорт → очередь → OCR → анализ</a:t>
            </a:r>
          </a:p>
          <a:p xmlns:a="http://schemas.openxmlformats.org/drawingml/2006/main">
            <a:pPr>
              <a:defRPr sz="255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→ хранилище → рабочее место аналитика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A53D3-2019-44C0-AC96-3A97B9F9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Сервер, совместный доступ и автоматический сбор ещё не реализованы</a:t>
            </a:r>
          </a:p>
        </p:txBody>
      </p:sp>
    </p:spTree>
    <p:extLst>
      <p:ext uri="{BB962C8B-B14F-4D97-AF65-F5344CB8AC3E}">
        <p14:creationId xmlns:p14="http://schemas.microsoft.com/office/powerpoint/2010/main" val="582460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BF351-15C9-4A31-8CF9-BBF89EFB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План пилота на четыре недели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F6A38-0277-4F0D-B9D6-2DE856121B71}"/>
              </a:ext>
            </a:extLst>
          </p:cNvPr>
          <p:cNvGraphicFramePr/>
          <p:nvPr/>
        </p:nvGraphicFramePr>
        <p:xfrm>
          <a:off xmlns:a="http://schemas.openxmlformats.org/drawingml/2006/main" x="647700" y="1476375"/>
          <a:ext xmlns:a="http://schemas.openxmlformats.org/drawingml/2006/main" cx="108966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372350"/>
              </a:tblGrid>
              <a:tr h="6629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Проверяемый результат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1 · данные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Два специалиста, разрешённый тест ≥200 кампаний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2 · сервер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Импорт, очередь, БД, роли и журнал решений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3 · качество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RU/KZ, ошибки OCR, всплески и восстановление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Неделя 4 · пилот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D1D1F"/>
                          </a:solidFill>
                          <a:latin typeface="Arial"/>
                          <a:ea typeface="Arial"/>
                          <a:cs typeface="Arial"/>
                        </a:rPr>
                        <a:t>Работа аналитиков и отчёт для решения о расширении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3C115-C49E-4C5B-B51E-1389A1D5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Цели пилота: precision ≥90% · recall ≥85% · FPR ≤5%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B99D4-2303-4E38-B3B1-14639106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На реальных публикациях цели ещё не подтверждены. Автоматические санкции не предусмотрены.</a:t>
            </a:r>
          </a:p>
        </p:txBody>
      </p:sp>
    </p:spTree>
    <p:extLst>
      <p:ext uri="{BB962C8B-B14F-4D97-AF65-F5344CB8AC3E}">
        <p14:creationId xmlns:p14="http://schemas.microsoft.com/office/powerpoint/2010/main" val="10405097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EEE93-5B54-4081-9152-473D3C2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D1D1F"/>
                </a:solidFill>
                <a:latin typeface="Arial"/>
                <a:ea typeface="Arial"/>
                <a:cs typeface="Arial"/>
              </a:rPr>
              <a:t>Демо и материалы для проверки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20797-E5B9-498D-8E46-22925478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Платный пример → бесплатный конкурс</a:t>
            </a:r>
          </a:p>
          <a:p xmlns:a="http://schemas.openxmlformats.org/drawingml/2006/main">
            <a:pPr>
              <a:defRPr sz="2925" b="1">
                <a:solidFill>
                  <a:srgbClr val="0066C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66CC"/>
                </a:solidFill>
                <a:latin typeface="Arial"/>
                <a:ea typeface="Arial"/>
                <a:cs typeface="Arial"/>
              </a:rPr>
              <a:t>→ серия розыгрышей → решение аналитика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C98E-F388-43DF-96D2-A2D205CD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Рабочий MVP, методология, воспроизводимые метрики</a:t>
            </a:r>
          </a:p>
          <a:p xmlns:a="http://schemas.openxmlformats.org/drawingml/2006/main">
            <a:pPr>
              <a:defRPr sz="2400" b="0">
                <a:solidFill>
                  <a:srgbClr val="1D1D1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D1D1F"/>
                </a:solidFill>
                <a:latin typeface="Arial"/>
                <a:ea typeface="Arial"/>
                <a:cs typeface="Arial"/>
              </a:rPr>
              <a:t>и конкретный план следующего этапа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ABEA1-FED2-4DD8-BFA1-01D2368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4840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616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616A"/>
                </a:solidFill>
                <a:latin typeface="Arial"/>
                <a:ea typeface="Arial"/>
                <a:cs typeface="Arial"/>
              </a:rPr>
              <a:t>ІЗ выявляет признаки. Юридическую оценку выполняет специалист.</a:t>
            </a:r>
          </a:p>
        </p:txBody>
      </p:sp>
    </p:spTree>
    <p:extLst>
      <p:ext uri="{BB962C8B-B14F-4D97-AF65-F5344CB8AC3E}">
        <p14:creationId xmlns:p14="http://schemas.microsoft.com/office/powerpoint/2010/main" val="853363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2026-10-20T15:20:51.5380000Z</dcterms:created>
  <dcterms:modified xsi:type="dcterms:W3CDTF">2026-10-20T15:20:51.5380000Z</dcterms:modified>
</coreProperties>
</file>